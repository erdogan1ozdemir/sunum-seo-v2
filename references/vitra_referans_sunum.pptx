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13716000" cx="24387175"/>
  <p:notesSz cx="13716000" cy="24387175"/>
  <p:embeddedFontLst>
    <p:embeddedFont>
      <p:font typeface="Ubuntu"/>
      <p:regular r:id="rId33"/>
      <p:bold r:id="rId34"/>
      <p:italic r:id="rId35"/>
      <p:boldItalic r:id="rId36"/>
    </p:embeddedFont>
    <p:embeddedFont>
      <p:font typeface="Bricolage Grotesque SemiBold"/>
      <p:regular r:id="rId37"/>
      <p:bold r:id="rId38"/>
    </p:embeddedFont>
    <p:embeddedFont>
      <p:font typeface="Outfit ExtraLight"/>
      <p:regular r:id="rId39"/>
      <p:bold r:id="rId40"/>
    </p:embeddedFont>
    <p:embeddedFont>
      <p:font typeface="Outfit"/>
      <p:regular r:id="rId41"/>
      <p:bold r:id="rId42"/>
    </p:embeddedFont>
    <p:embeddedFont>
      <p:font typeface="Bricolage Grotesque ExtraBold"/>
      <p:bold r:id="rId43"/>
    </p:embeddedFont>
    <p:embeddedFont>
      <p:font typeface="Outfit SemiBold"/>
      <p:regular r:id="rId44"/>
      <p:bold r:id="rId45"/>
    </p:embeddedFont>
    <p:embeddedFont>
      <p:font typeface="Bricolage Grotesque"/>
      <p:regular r:id="rId46"/>
      <p:bold r:id="rId47"/>
    </p:embeddedFont>
    <p:embeddedFont>
      <p:font typeface="Inter Medium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g3nyiEPUmBfFhNue8pAe22BhmQ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DCEDE4-B0FC-4F23-BC3E-1BF49A17E47C}">
  <a:tblStyle styleId="{DBDCEDE4-B0FC-4F23-BC3E-1BF49A17E47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utfitExtraLight-bold.fntdata"/><Relationship Id="rId42" Type="http://schemas.openxmlformats.org/officeDocument/2006/relationships/font" Target="fonts/Outfit-bold.fntdata"/><Relationship Id="rId41" Type="http://schemas.openxmlformats.org/officeDocument/2006/relationships/font" Target="fonts/Outfit-regular.fntdata"/><Relationship Id="rId44" Type="http://schemas.openxmlformats.org/officeDocument/2006/relationships/font" Target="fonts/OutfitSemiBold-regular.fntdata"/><Relationship Id="rId43" Type="http://schemas.openxmlformats.org/officeDocument/2006/relationships/font" Target="fonts/BricolageGrotesqueExtraBold-bold.fntdata"/><Relationship Id="rId46" Type="http://schemas.openxmlformats.org/officeDocument/2006/relationships/font" Target="fonts/BricolageGrotesque-regular.fntdata"/><Relationship Id="rId45" Type="http://schemas.openxmlformats.org/officeDocument/2006/relationships/font" Target="fonts/Outfi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regular.fntdata"/><Relationship Id="rId47" Type="http://schemas.openxmlformats.org/officeDocument/2006/relationships/font" Target="fonts/BricolageGrotesque-bold.fntdata"/><Relationship Id="rId49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Ubuntu-regular.fntdata"/><Relationship Id="rId32" Type="http://schemas.openxmlformats.org/officeDocument/2006/relationships/slide" Target="slides/slide27.xml"/><Relationship Id="rId35" Type="http://schemas.openxmlformats.org/officeDocument/2006/relationships/font" Target="fonts/Ubuntu-italic.fntdata"/><Relationship Id="rId34" Type="http://schemas.openxmlformats.org/officeDocument/2006/relationships/font" Target="fonts/Ubuntu-bold.fntdata"/><Relationship Id="rId37" Type="http://schemas.openxmlformats.org/officeDocument/2006/relationships/font" Target="fonts/BricolageGrotesqueSemiBold-regular.fntdata"/><Relationship Id="rId36" Type="http://schemas.openxmlformats.org/officeDocument/2006/relationships/font" Target="fonts/Ubuntu-boldItalic.fntdata"/><Relationship Id="rId39" Type="http://schemas.openxmlformats.org/officeDocument/2006/relationships/font" Target="fonts/OutfitExtraLight-regular.fntdata"/><Relationship Id="rId38" Type="http://schemas.openxmlformats.org/officeDocument/2006/relationships/font" Target="fonts/BricolageGrotesqueSemiBo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Medium-boldItalic.fntdata"/><Relationship Id="rId50" Type="http://schemas.openxmlformats.org/officeDocument/2006/relationships/font" Target="fonts/InterMedium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e3c0731b07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2e3c0731b07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2e3c0731b07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8f12b07e9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58f12b07e9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58f12b07e9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3c0731b07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e3c0731b07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2e3c0731b07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ab91def8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cab91def8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cab91def82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3c0731b07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e3c0731b07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2e3c0731b07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d7f9d02ad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3d7f9d02ad_1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3d7f9d02ad_1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8f12b07e9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58f12b07e9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58f12b07e9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a5972856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ca5972856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ca5972856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8f0b24be0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c8f0b24be0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c8f0b24be0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8f12b07e9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58f12b07e9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58f12b07e9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8f12b07e9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58f12b07e9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58f12b07e9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132f460d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7132f460d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7132f460d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9752f9680_6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c9752f9680_6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c9752f9680_6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8f12b07e9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58f12b07e9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58f12b07e9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9752f9680_6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c9752f9680_6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Mobilde bakıldığında canniballizationa ve geçişe dayalı sıralanma dalgalanmaları mevcut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c9752f9680_6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8f0b24be0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c8f0b24be0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3c8f0b24be0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8f0b24be0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c8f0b24be0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c8f0b24be0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8f0b24be0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c8f0b24be0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c8f0b24be0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ce8251c07_0_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cce8251c07_0_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cce8251c07_0_4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ce8251c07_0_427:notes"/>
          <p:cNvSpPr/>
          <p:nvPr>
            <p:ph idx="2" type="sldImg"/>
          </p:nvPr>
        </p:nvSpPr>
        <p:spPr>
          <a:xfrm>
            <a:off x="1827848" y="3048397"/>
            <a:ext cx="14632200" cy="823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33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cce8251c07_0_427:notes"/>
          <p:cNvSpPr txBox="1"/>
          <p:nvPr>
            <p:ph idx="1" type="body"/>
          </p:nvPr>
        </p:nvSpPr>
        <p:spPr>
          <a:xfrm>
            <a:off x="1828800" y="11736328"/>
            <a:ext cx="14630400" cy="9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cce8251c07_0_427:notes"/>
          <p:cNvSpPr txBox="1"/>
          <p:nvPr>
            <p:ph idx="12" type="sldNum"/>
          </p:nvPr>
        </p:nvSpPr>
        <p:spPr>
          <a:xfrm>
            <a:off x="10358968" y="23163584"/>
            <a:ext cx="79248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ce8251c07_0_85:notes"/>
          <p:cNvSpPr/>
          <p:nvPr>
            <p:ph idx="2" type="sldImg"/>
          </p:nvPr>
        </p:nvSpPr>
        <p:spPr>
          <a:xfrm>
            <a:off x="1827848" y="3048397"/>
            <a:ext cx="14632200" cy="823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33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cce8251c07_0_85:notes"/>
          <p:cNvSpPr txBox="1"/>
          <p:nvPr>
            <p:ph idx="1" type="body"/>
          </p:nvPr>
        </p:nvSpPr>
        <p:spPr>
          <a:xfrm>
            <a:off x="1828800" y="11736328"/>
            <a:ext cx="14630400" cy="9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cce8251c07_0_85:notes"/>
          <p:cNvSpPr txBox="1"/>
          <p:nvPr>
            <p:ph idx="12" type="sldNum"/>
          </p:nvPr>
        </p:nvSpPr>
        <p:spPr>
          <a:xfrm>
            <a:off x="10358968" y="23163584"/>
            <a:ext cx="79248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ce8251c07_0_246:notes"/>
          <p:cNvSpPr/>
          <p:nvPr>
            <p:ph idx="2" type="sldImg"/>
          </p:nvPr>
        </p:nvSpPr>
        <p:spPr>
          <a:xfrm>
            <a:off x="1827848" y="3048397"/>
            <a:ext cx="14632200" cy="823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33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cce8251c07_0_246:notes"/>
          <p:cNvSpPr txBox="1"/>
          <p:nvPr>
            <p:ph idx="1" type="body"/>
          </p:nvPr>
        </p:nvSpPr>
        <p:spPr>
          <a:xfrm>
            <a:off x="1828800" y="11736328"/>
            <a:ext cx="14630400" cy="9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g3cce8251c07_0_246:notes"/>
          <p:cNvSpPr txBox="1"/>
          <p:nvPr>
            <p:ph idx="12" type="sldNum"/>
          </p:nvPr>
        </p:nvSpPr>
        <p:spPr>
          <a:xfrm>
            <a:off x="10358968" y="23163584"/>
            <a:ext cx="79248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ce8251c07_0_742:notes"/>
          <p:cNvSpPr/>
          <p:nvPr>
            <p:ph idx="2" type="sldImg"/>
          </p:nvPr>
        </p:nvSpPr>
        <p:spPr>
          <a:xfrm>
            <a:off x="1827848" y="3048397"/>
            <a:ext cx="14632200" cy="823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33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cce8251c07_0_742:notes"/>
          <p:cNvSpPr txBox="1"/>
          <p:nvPr>
            <p:ph idx="1" type="body"/>
          </p:nvPr>
        </p:nvSpPr>
        <p:spPr>
          <a:xfrm>
            <a:off x="1828800" y="11736328"/>
            <a:ext cx="14630400" cy="9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00" spcFirstLastPara="1" rIns="243800" wrap="square" tIns="121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cce8251c07_0_742:notes"/>
          <p:cNvSpPr txBox="1"/>
          <p:nvPr>
            <p:ph idx="12" type="sldNum"/>
          </p:nvPr>
        </p:nvSpPr>
        <p:spPr>
          <a:xfrm>
            <a:off x="10358968" y="23163584"/>
            <a:ext cx="79248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75" lIns="243800" spcFirstLastPara="1" rIns="243800" wrap="square" tIns="1218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hyperlink" Target="https://ads.google.com/aw/keywordplanner/home" TargetMode="External"/><Relationship Id="rId6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hyperlink" Target="https://ads.google.com/aw/keywordplanner/home" TargetMode="External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hyperlink" Target="https://ads.google.com/aw/keywordplanner/home" TargetMode="External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hyperlink" Target="https://ads.google.com/aw/keywordplanner/hom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hyperlink" Target="https://ads.google.com/aw/keywordplanner/hom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8.png"/><Relationship Id="rId13" Type="http://schemas.openxmlformats.org/officeDocument/2006/relationships/image" Target="../media/image43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Relationship Id="rId15" Type="http://schemas.openxmlformats.org/officeDocument/2006/relationships/image" Target="../media/image40.png"/><Relationship Id="rId14" Type="http://schemas.openxmlformats.org/officeDocument/2006/relationships/image" Target="../media/image49.png"/><Relationship Id="rId5" Type="http://schemas.openxmlformats.org/officeDocument/2006/relationships/image" Target="../media/image3.png"/><Relationship Id="rId6" Type="http://schemas.openxmlformats.org/officeDocument/2006/relationships/image" Target="../media/image34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50.png"/><Relationship Id="rId7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47.png"/><Relationship Id="rId7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53.png"/><Relationship Id="rId9" Type="http://schemas.openxmlformats.org/officeDocument/2006/relationships/image" Target="../media/image3.png"/><Relationship Id="rId5" Type="http://schemas.openxmlformats.org/officeDocument/2006/relationships/image" Target="../media/image46.png"/><Relationship Id="rId6" Type="http://schemas.openxmlformats.org/officeDocument/2006/relationships/image" Target="../media/image62.png"/><Relationship Id="rId7" Type="http://schemas.openxmlformats.org/officeDocument/2006/relationships/image" Target="../media/image45.png"/><Relationship Id="rId8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Relationship Id="rId5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hyperlink" Target="http://www.vitra.com.tr" TargetMode="External"/><Relationship Id="rId1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9" Type="http://schemas.openxmlformats.org/officeDocument/2006/relationships/image" Target="../media/image65.png"/><Relationship Id="rId5" Type="http://schemas.openxmlformats.org/officeDocument/2006/relationships/image" Target="../media/image54.png"/><Relationship Id="rId6" Type="http://schemas.openxmlformats.org/officeDocument/2006/relationships/image" Target="../media/image41.png"/><Relationship Id="rId7" Type="http://schemas.openxmlformats.org/officeDocument/2006/relationships/image" Target="../media/image55.png"/><Relationship Id="rId8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44.png"/><Relationship Id="rId5" Type="http://schemas.openxmlformats.org/officeDocument/2006/relationships/image" Target="../media/image65.png"/><Relationship Id="rId6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44.png"/><Relationship Id="rId5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56.png"/><Relationship Id="rId5" Type="http://schemas.openxmlformats.org/officeDocument/2006/relationships/image" Target="../media/image69.png"/><Relationship Id="rId6" Type="http://schemas.openxmlformats.org/officeDocument/2006/relationships/image" Target="../media/image57.png"/><Relationship Id="rId7" Type="http://schemas.openxmlformats.org/officeDocument/2006/relationships/hyperlink" Target="https://docs.google.com/spreadsheets/d/1yLd_Xzg3gbdcYAt0DDlYZJiIeUjVferog86reuyzzaw/edit?gid=1703754290#gid=1703754290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382048" y="5232400"/>
            <a:ext cx="15622953" cy="32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402074" y="5232400"/>
            <a:ext cx="251913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12000"/>
              <a:buFont typeface="Bricolage Grotesque SemiBold"/>
              <a:buNone/>
            </a:pPr>
            <a:r>
              <a:rPr b="0" i="0" lang="en-US" sz="9500" u="none" cap="none" strike="noStrike">
                <a:solidFill>
                  <a:srgbClr val="FEFEF7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VitrA | Aylık SEO Değerlendirme</a:t>
            </a:r>
            <a:endParaRPr b="0" i="0" sz="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99992" y="7366000"/>
            <a:ext cx="15987065" cy="1481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8600"/>
              <a:buFont typeface="Bricolage Grotesque SemiBold"/>
              <a:buNone/>
            </a:pPr>
            <a:r>
              <a:rPr b="0" i="0" lang="en-US" sz="8600" u="none" cap="none" strike="noStrike">
                <a:solidFill>
                  <a:srgbClr val="FEFEF7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Ocak	2026</a:t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732841" y="12090400"/>
            <a:ext cx="29128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732841" y="12090400"/>
            <a:ext cx="29128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2841" y="12090400"/>
            <a:ext cx="2912896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0351794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7672335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8063" y="381000"/>
            <a:ext cx="2282052" cy="389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2000"/>
              <a:buFont typeface="Inter Medium"/>
              <a:buNone/>
            </a:pPr>
            <a:r>
              <a:rPr b="0" i="0" lang="en-US" sz="2000" u="none" cap="none" strike="noStrike">
                <a:solidFill>
                  <a:srgbClr val="FEFEF7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TITLE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19" y="0"/>
            <a:ext cx="12193524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-63508" y="5969000"/>
            <a:ext cx="12307838" cy="1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9600"/>
              <a:buFont typeface="Bricolage Grotesque"/>
              <a:buNone/>
            </a:pPr>
            <a:r>
              <a:rPr b="0" i="0" lang="en-US" sz="9600" u="none" cap="none" strike="noStrike">
                <a:solidFill>
                  <a:srgbClr val="FEFEF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SUNUM AKIŞI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2" name="Google Shape;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1861800"/>
            <a:ext cx="135907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" name="Google Shape;3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777" y="12045373"/>
            <a:ext cx="988414" cy="979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886570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12663625" y="3915600"/>
            <a:ext cx="10923900" cy="58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 b="0" i="0" sz="4000" u="none" cap="none" strike="noStrike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Marka, Kategori Arama Hacimleri &amp; Rekabet</a:t>
            </a:r>
            <a:endParaRPr b="0" i="0" sz="4000" u="none" cap="none" strike="noStrike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0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endParaRPr b="0" i="0" sz="4000" u="none" cap="none" strike="noStrike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vitra.com.tr - Trafik, Sıralama, Visibility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lang="en-US" sz="40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endParaRPr sz="4000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1" lang="en-US" sz="40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vitra.com.tr - Geçiş Öncesi - Sonrası Sıralamalar</a:t>
            </a:r>
            <a:endParaRPr b="1" sz="4000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sz="4000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sz="4000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sz="4000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sz="4000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6" name="Google Shape;3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618625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" name="Google Shape;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/>
          <p:nvPr/>
        </p:nvSpPr>
        <p:spPr>
          <a:xfrm>
            <a:off x="11787073" y="5537200"/>
            <a:ext cx="8129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" name="Google Shape;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2"/>
          <p:cNvSpPr/>
          <p:nvPr/>
        </p:nvSpPr>
        <p:spPr>
          <a:xfrm>
            <a:off x="11787073" y="7264400"/>
            <a:ext cx="8129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" name="Google Shape;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2"/>
          <p:cNvSpPr/>
          <p:nvPr/>
        </p:nvSpPr>
        <p:spPr>
          <a:xfrm>
            <a:off x="-22541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02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2"/>
          <p:cNvSpPr/>
          <p:nvPr/>
        </p:nvSpPr>
        <p:spPr>
          <a:xfrm>
            <a:off x="3028675" y="624840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Arama Hacmi &amp; Rekabet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4" name="Google Shape;54;g2e3c0731b07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" name="Google Shape;55;g2e3c0731b07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2e3c0731b07_0_9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e3c0731b07_0_92"/>
          <p:cNvSpPr/>
          <p:nvPr/>
        </p:nvSpPr>
        <p:spPr>
          <a:xfrm>
            <a:off x="406449" y="406400"/>
            <a:ext cx="1230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Marka Arama Hacimleri | VitrA Marka Hacmi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" name="Google Shape;58;g2e3c0731b07_0_92"/>
          <p:cNvSpPr/>
          <p:nvPr/>
        </p:nvSpPr>
        <p:spPr>
          <a:xfrm>
            <a:off x="406425" y="1219200"/>
            <a:ext cx="233907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only brand arama hacmi Ocak ayında </a:t>
            </a:r>
            <a:r>
              <a:rPr b="1" i="0" lang="en-US" sz="5200" u="none" cap="none" strike="noStrike">
                <a:solidFill>
                  <a:srgbClr val="FF7B5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geçtiğimiz yıla göre sabit kalırken</a:t>
            </a: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, MoM olarak kıyaslandığında </a:t>
            </a:r>
            <a:r>
              <a:rPr b="1" i="0" lang="en-US" sz="52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%18.2</a:t>
            </a: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azalmıştır.</a:t>
            </a:r>
            <a:endParaRPr b="1" i="0" sz="52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9" name="Google Shape;59;g2e3c0731b07_0_92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2e3c0731b07_0_92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5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61" name="Google Shape;61;g2e3c0731b07_0_92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3764" y="3340500"/>
            <a:ext cx="17939637" cy="65164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62" name="Google Shape;62;g2e3c0731b07_0_92"/>
          <p:cNvGraphicFramePr/>
          <p:nvPr/>
        </p:nvGraphicFramePr>
        <p:xfrm>
          <a:off x="3148688" y="1037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057500"/>
                <a:gridCol w="1336025"/>
                <a:gridCol w="1336025"/>
                <a:gridCol w="1336025"/>
                <a:gridCol w="1336025"/>
                <a:gridCol w="1336025"/>
                <a:gridCol w="1336025"/>
                <a:gridCol w="1336025"/>
                <a:gridCol w="1336025"/>
                <a:gridCol w="1336025"/>
                <a:gridCol w="1336025"/>
                <a:gridCol w="1336025"/>
                <a:gridCol w="1336025"/>
              </a:tblGrid>
              <a:tr h="39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Vitra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Jan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Feb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Mar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Apr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May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Jun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Jul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Aug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Sep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Oct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Nov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Dec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0:12"/>
                      </a:ext>
                    </a:extLst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2024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6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6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6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27.1K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6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62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62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1:12"/>
                      </a:ext>
                    </a:extLst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2025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27.1K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6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27.1K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6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2:2:12"/>
                      </a:ext>
                    </a:extLst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2026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6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2:3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8" name="Google Shape;68;g358f12b07e9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9" name="Google Shape;69;g358f12b07e9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58f12b07e9_0_3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8f12b07e9_0_31"/>
          <p:cNvSpPr/>
          <p:nvPr/>
        </p:nvSpPr>
        <p:spPr>
          <a:xfrm>
            <a:off x="406449" y="406400"/>
            <a:ext cx="1230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Marka Arama Hacimleri | VitrA Marka + Category Hacmi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2" name="Google Shape;72;g358f12b07e9_0_31"/>
          <p:cNvSpPr/>
          <p:nvPr/>
        </p:nvSpPr>
        <p:spPr>
          <a:xfrm>
            <a:off x="406450" y="1219200"/>
            <a:ext cx="23980800" cy="20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+ keyword arama hacmi YoY kıyasladığımızda </a:t>
            </a:r>
            <a:r>
              <a:rPr b="1" i="0" lang="en-US" sz="52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%7.7 azalırken</a:t>
            </a:r>
            <a:r>
              <a:rPr b="1" i="0" lang="en-US" sz="52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,</a:t>
            </a:r>
            <a:r>
              <a:rPr b="1" i="0" lang="en-US" sz="52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MoM kıyasladığımızda </a:t>
            </a:r>
            <a:r>
              <a:rPr b="1" i="0" lang="en-US" sz="52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%9.5 azalmıştır.</a:t>
            </a:r>
            <a:endParaRPr b="1" i="0" sz="5200" u="none" cap="none" strike="noStrike">
              <a:solidFill>
                <a:srgbClr val="EA4335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3" name="Google Shape;73;g358f12b07e9_0_31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58f12b07e9_0_31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5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75" name="Google Shape;75;g358f12b07e9_0_31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725" y="3233710"/>
            <a:ext cx="19896251" cy="7227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76" name="Google Shape;76;g358f12b07e9_0_31"/>
          <p:cNvGraphicFramePr/>
          <p:nvPr/>
        </p:nvGraphicFramePr>
        <p:xfrm>
          <a:off x="2419272" y="10873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366525"/>
                <a:gridCol w="1460800"/>
                <a:gridCol w="1460800"/>
                <a:gridCol w="1460800"/>
                <a:gridCol w="1460800"/>
                <a:gridCol w="1460800"/>
                <a:gridCol w="1460800"/>
                <a:gridCol w="1460800"/>
                <a:gridCol w="1460800"/>
                <a:gridCol w="1460800"/>
                <a:gridCol w="1460800"/>
                <a:gridCol w="1460800"/>
                <a:gridCol w="1460800"/>
              </a:tblGrid>
              <a:tr h="42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Jan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Feb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Mar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Apr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May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Jun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Jul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Aug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Sep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Oct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Nov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Dec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0:12"/>
                      </a:ext>
                    </a:extLst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2024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82.3K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cellId="7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77.7K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1DF"/>
                    </a:solidFill>
                    <a:extLst>
                      <a:ext uri="http://customooxmlschemas.google.com/">
                        <go:slidesCustomData xmlns:go="http://customooxmlschemas.google.com/" cellId="7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81.1K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F5"/>
                    </a:solidFill>
                    <a:extLst>
                      <a:ext uri="http://customooxmlschemas.google.com/">
                        <go:slidesCustomData xmlns:go="http://customooxmlschemas.google.com/" cellId="7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66.8K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9E97"/>
                    </a:solidFill>
                    <a:extLst>
                      <a:ext uri="http://customooxmlschemas.google.com/">
                        <go:slidesCustomData xmlns:go="http://customooxmlschemas.google.com/" cellId="7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FB"/>
                    </a:solidFill>
                    <a:extLst>
                      <a:ext uri="http://customooxmlschemas.google.com/">
                        <go:slidesCustomData xmlns:go="http://customooxmlschemas.google.com/" cellId="7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61.2K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7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83.6K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7F0"/>
                    </a:solidFill>
                    <a:extLst>
                      <a:ext uri="http://customooxmlschemas.google.com/">
                        <go:slidesCustomData xmlns:go="http://customooxmlschemas.google.com/" cellId="76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  <a:extLst>
                      <a:ext uri="http://customooxmlschemas.google.com/">
                        <go:slidesCustomData xmlns:go="http://customooxmlschemas.google.com/" cellId="76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B"/>
                    </a:solidFill>
                    <a:extLst>
                      <a:ext uri="http://customooxmlschemas.google.com/">
                        <go:slidesCustomData xmlns:go="http://customooxmlschemas.google.com/" cellId="76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90.7K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76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85.5K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7D5"/>
                    </a:solidFill>
                    <a:extLst>
                      <a:ext uri="http://customooxmlschemas.google.com/">
                        <go:slidesCustomData xmlns:go="http://customooxmlschemas.google.com/" cellId="76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83.1K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76:1:12"/>
                      </a:ext>
                    </a:extLst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2025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78.9K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2E9"/>
                    </a:solidFill>
                    <a:extLst>
                      <a:ext uri="http://customooxmlschemas.google.com/">
                        <go:slidesCustomData xmlns:go="http://customooxmlschemas.google.com/" cellId="7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71.1K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CB7"/>
                    </a:solidFill>
                    <a:extLst>
                      <a:ext uri="http://customooxmlschemas.google.com/">
                        <go:slidesCustomData xmlns:go="http://customooxmlschemas.google.com/" cellId="7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66.3K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A82"/>
                    </a:solidFill>
                    <a:extLst>
                      <a:ext uri="http://customooxmlschemas.google.com/">
                        <go:slidesCustomData xmlns:go="http://customooxmlschemas.google.com/" cellId="7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77.8K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FFE"/>
                    </a:solidFill>
                    <a:extLst>
                      <a:ext uri="http://customooxmlschemas.google.com/">
                        <go:slidesCustomData xmlns:go="http://customooxmlschemas.google.com/" cellId="7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77.0K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7F7"/>
                    </a:solidFill>
                    <a:extLst>
                      <a:ext uri="http://customooxmlschemas.google.com/">
                        <go:slidesCustomData xmlns:go="http://customooxmlschemas.google.com/" cellId="7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66.1K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981"/>
                    </a:solidFill>
                    <a:extLst>
                      <a:ext uri="http://customooxmlschemas.google.com/">
                        <go:slidesCustomData xmlns:go="http://customooxmlschemas.google.com/" cellId="7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64.8K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76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78.0K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CFA"/>
                    </a:solidFill>
                    <a:extLst>
                      <a:ext uri="http://customooxmlschemas.google.com/">
                        <go:slidesCustomData xmlns:go="http://customooxmlschemas.google.com/" cellId="76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77.7K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76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84.0K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76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78.7K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4EC"/>
                    </a:solidFill>
                    <a:extLst>
                      <a:ext uri="http://customooxmlschemas.google.com/">
                        <go:slidesCustomData xmlns:go="http://customooxmlschemas.google.com/" cellId="76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1CB"/>
                    </a:solidFill>
                    <a:extLst>
                      <a:ext uri="http://customooxmlschemas.google.com/">
                        <go:slidesCustomData xmlns:go="http://customooxmlschemas.google.com/" cellId="76:2:12"/>
                      </a:ext>
                    </a:extLst>
                  </a:tcPr>
                </a:tc>
              </a:tr>
              <a:tr h="42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2026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7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72.8K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7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6:3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3c0731b07_0_143"/>
          <p:cNvSpPr/>
          <p:nvPr/>
        </p:nvSpPr>
        <p:spPr>
          <a:xfrm>
            <a:off x="406450" y="406400"/>
            <a:ext cx="1136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 İlgili Arama Hacimleri | Non-Branded Arama Hacmi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83" name="Google Shape;83;g2e3c0731b07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" name="Google Shape;84;g2e3c0731b07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2e3c0731b07_0_14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e3c0731b07_0_143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e3c0731b07_0_143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5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8" name="Google Shape;88;g2e3c0731b07_0_143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0222" y="3883431"/>
            <a:ext cx="19612224" cy="71239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g2e3c0731b07_0_143"/>
          <p:cNvSpPr/>
          <p:nvPr/>
        </p:nvSpPr>
        <p:spPr>
          <a:xfrm>
            <a:off x="449875" y="1111375"/>
            <a:ext cx="24072900" cy="2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için takip ettiğimiz Non-branded kelimelerin aramalarını incelediğimizde Ocak ayı arama hacmi geçen yılın </a:t>
            </a:r>
            <a:r>
              <a:rPr b="1" i="0" lang="en-US" sz="52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%25</a:t>
            </a:r>
            <a:r>
              <a:rPr b="1" i="0" lang="en-US" sz="52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altında kalırken, MoM kıyasladığımızda ise sabit kalmıştır.</a:t>
            </a:r>
            <a:endParaRPr b="1" i="0" sz="52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90" name="Google Shape;90;g2e3c0731b07_0_143"/>
          <p:cNvGraphicFramePr/>
          <p:nvPr/>
        </p:nvGraphicFramePr>
        <p:xfrm>
          <a:off x="2680200" y="11155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  <a:gridCol w="1508625"/>
              </a:tblGrid>
              <a:tr h="41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Jan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Feb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Mar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Apr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May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Jun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Jul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Aug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Sep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Oct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Nov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Dec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0:12"/>
                      </a:ext>
                    </a:extLst>
                  </a:tcPr>
                </a:tc>
              </a:tr>
              <a:tr h="4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2024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D8BC"/>
                    </a:solidFill>
                    <a:extLst>
                      <a:ext uri="http://customooxmlschemas.google.com/">
                        <go:slidesCustomData xmlns:go="http://customooxmlschemas.google.com/" cellId="9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4E2"/>
                    </a:solidFill>
                    <a:extLst>
                      <a:ext uri="http://customooxmlschemas.google.com/">
                        <go:slidesCustomData xmlns:go="http://customooxmlschemas.google.com/" cellId="9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BD9"/>
                    </a:solidFill>
                    <a:extLst>
                      <a:ext uri="http://customooxmlschemas.google.com/">
                        <go:slidesCustomData xmlns:go="http://customooxmlschemas.google.com/" cellId="9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39D"/>
                    </a:solidFill>
                    <a:extLst>
                      <a:ext uri="http://customooxmlschemas.google.com/">
                        <go:slidesCustomData xmlns:go="http://customooxmlschemas.google.com/" cellId="90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DDA"/>
                    </a:solidFill>
                    <a:extLst>
                      <a:ext uri="http://customooxmlschemas.google.com/">
                        <go:slidesCustomData xmlns:go="http://customooxmlschemas.google.com/" cellId="90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90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  <a:extLst>
                      <a:ext uri="http://customooxmlschemas.google.com/">
                        <go:slidesCustomData xmlns:go="http://customooxmlschemas.google.com/" cellId="90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1E7"/>
                    </a:solidFill>
                    <a:extLst>
                      <a:ext uri="http://customooxmlschemas.google.com/">
                        <go:slidesCustomData xmlns:go="http://customooxmlschemas.google.com/" cellId="90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2.3M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90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2.6M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90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DFC8"/>
                    </a:solidFill>
                    <a:extLst>
                      <a:ext uri="http://customooxmlschemas.google.com/">
                        <go:slidesCustomData xmlns:go="http://customooxmlschemas.google.com/" cellId="90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F1E6"/>
                    </a:solidFill>
                    <a:extLst>
                      <a:ext uri="http://customooxmlschemas.google.com/">
                        <go:slidesCustomData xmlns:go="http://customooxmlschemas.google.com/" cellId="90:1:12"/>
                      </a:ext>
                    </a:extLst>
                  </a:tcPr>
                </a:tc>
              </a:tr>
              <a:tr h="4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2025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9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E3CE"/>
                    </a:solidFill>
                    <a:extLst>
                      <a:ext uri="http://customooxmlschemas.google.com/">
                        <go:slidesCustomData xmlns:go="http://customooxmlschemas.google.com/" cellId="9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1.9M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9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D3"/>
                    </a:solidFill>
                    <a:extLst>
                      <a:ext uri="http://customooxmlschemas.google.com/">
                        <go:slidesCustomData xmlns:go="http://customooxmlschemas.google.com/" cellId="90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1.9M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  <a:extLst>
                      <a:ext uri="http://customooxmlschemas.google.com/">
                        <go:slidesCustomData xmlns:go="http://customooxmlschemas.google.com/" cellId="90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1.6M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8D6"/>
                    </a:solidFill>
                    <a:extLst>
                      <a:ext uri="http://customooxmlschemas.google.com/">
                        <go:slidesCustomData xmlns:go="http://customooxmlschemas.google.com/" cellId="90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90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DE0"/>
                    </a:solidFill>
                    <a:extLst>
                      <a:ext uri="http://customooxmlschemas.google.com/">
                        <go:slidesCustomData xmlns:go="http://customooxmlschemas.google.com/" cellId="90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1.9M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3EA"/>
                    </a:solidFill>
                    <a:extLst>
                      <a:ext uri="http://customooxmlschemas.google.com/">
                        <go:slidesCustomData xmlns:go="http://customooxmlschemas.google.com/" cellId="90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9D8"/>
                    </a:solidFill>
                    <a:extLst>
                      <a:ext uri="http://customooxmlschemas.google.com/">
                        <go:slidesCustomData xmlns:go="http://customooxmlschemas.google.com/" cellId="90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90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8F7"/>
                    </a:solidFill>
                    <a:extLst>
                      <a:ext uri="http://customooxmlschemas.google.com/">
                        <go:slidesCustomData xmlns:go="http://customooxmlschemas.google.com/" cellId="90:2:12"/>
                      </a:ext>
                    </a:extLst>
                  </a:tcPr>
                </a:tc>
              </a:tr>
              <a:tr h="4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FFFFF"/>
                          </a:solidFill>
                        </a:rPr>
                        <a:t>2026</a:t>
                      </a:r>
                      <a:endParaRPr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9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3F3"/>
                    </a:solidFill>
                    <a:extLst>
                      <a:ext uri="http://customooxmlschemas.google.com/">
                        <go:slidesCustomData xmlns:go="http://customooxmlschemas.google.com/" cellId="9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0:3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ab91def82_0_37"/>
          <p:cNvSpPr/>
          <p:nvPr/>
        </p:nvSpPr>
        <p:spPr>
          <a:xfrm>
            <a:off x="406450" y="406400"/>
            <a:ext cx="117465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Arama Hacimleri | VitrA Marka + Category &amp; Non Brand Hacimler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97" name="Google Shape;97;g3cab91def82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8" name="Google Shape;98;g3cab91def82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cab91def82_0_3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cab91def82_0_37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cab91def82_0_37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5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02" name="Google Shape;102;g3cab91def82_0_37"/>
          <p:cNvGraphicFramePr/>
          <p:nvPr/>
        </p:nvGraphicFramePr>
        <p:xfrm>
          <a:off x="403213" y="188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870650"/>
                <a:gridCol w="1640375"/>
                <a:gridCol w="1640375"/>
                <a:gridCol w="1640375"/>
              </a:tblGrid>
              <a:tr h="82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NonBrand Aranma Hacimleri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Jan 2025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Jan 2026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YoY Change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0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Armatürler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1,018,450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838,550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-18%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1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Aksesuarları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311,990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230,900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-26%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2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Mobilyaları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1,514,880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1,040,540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-31%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3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Duşlar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185,140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DD8BB"/>
                    </a:solidFill>
                    <a:extLst>
                      <a:ext uri="http://customooxmlschemas.google.com/">
                        <go:slidesCustomData xmlns:go="http://customooxmlschemas.google.com/" cellId="10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149,720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4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Karo Seramik Ürünleri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697,200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AD0AE"/>
                    </a:solidFill>
                    <a:extLst>
                      <a:ext uri="http://customooxmlschemas.google.com/">
                        <go:slidesCustomData xmlns:go="http://customooxmlschemas.google.com/" cellId="10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350,860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-50%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5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Rezervuarlar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61,870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44,960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-27%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6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Vitrifiyeler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774,530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656,290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7:3"/>
                      </a:ext>
                    </a:extLst>
                  </a:tcPr>
                </a:tc>
              </a:tr>
              <a:tr h="4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Yıkanma Alanları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628,900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477,140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-24%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8:3"/>
                      </a:ext>
                    </a:extLst>
                  </a:tcPr>
                </a:tc>
              </a:tr>
              <a:tr h="47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5,192,960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3,788,960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-2</a:t>
                      </a:r>
                      <a:r>
                        <a:rPr b="1" lang="en-US" sz="190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2:9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03" name="Google Shape;103;g3cab91def82_0_37"/>
          <p:cNvGraphicFramePr/>
          <p:nvPr/>
        </p:nvGraphicFramePr>
        <p:xfrm>
          <a:off x="8592225" y="188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791125"/>
                <a:gridCol w="1594925"/>
                <a:gridCol w="1594925"/>
                <a:gridCol w="1594925"/>
              </a:tblGrid>
              <a:tr h="78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NonBrand Aranma Hacimleri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Dec 2025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Jan 2026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MoM Change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0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Armatürler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840,394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838,550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1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Aksesuarları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239,541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230,900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-4%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2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Mobilyaları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1,166,864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1,040,540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-11%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3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Duşlar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161,813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149,720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-7%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4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Karo Seramik Ürünleri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472,937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350,860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-26%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5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Rezervuarlar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54,479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44,960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-17%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6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Vitrifiyeler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722,601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656,290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7:3"/>
                      </a:ext>
                    </a:extLst>
                  </a:tcPr>
                </a:tc>
              </a:tr>
              <a:tr h="4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Yıkanma Alanları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510,023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477,140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-6%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8:3"/>
                      </a:ext>
                    </a:extLst>
                  </a:tcPr>
                </a:tc>
              </a:tr>
              <a:tr h="65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3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4,168,651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3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3,788,960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3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3:9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04" name="Google Shape;104;g3cab91def82_0_37"/>
          <p:cNvGraphicFramePr/>
          <p:nvPr/>
        </p:nvGraphicFramePr>
        <p:xfrm>
          <a:off x="406450" y="716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3261675"/>
                <a:gridCol w="1510025"/>
                <a:gridCol w="1510025"/>
                <a:gridCol w="1510025"/>
              </a:tblGrid>
              <a:tr h="84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Marka + Kategori Aranma Hacimleri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Jan 2025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Jan 2026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YoY Change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0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Armatürler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15,113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14,870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-2%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Aksesuarları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2,341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2,430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4%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Mobilyaları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20,020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16,940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-15%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Duşlar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4,171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4,040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Karo Seramik Ürünleri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11,039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9,760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-12%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Rezervuarlar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21,662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19,210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-11%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Vitrifiyeler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47,584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43,570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-8%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7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Yıkanma Alanları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2,427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2,350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8:3"/>
                      </a:ext>
                    </a:extLst>
                  </a:tcPr>
                </a:tc>
              </a:tr>
              <a:tr h="48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4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124,357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4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113,170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4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9:3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05" name="Google Shape;105;g3cab91def82_0_37"/>
          <p:cNvSpPr/>
          <p:nvPr/>
        </p:nvSpPr>
        <p:spPr>
          <a:xfrm>
            <a:off x="16349475" y="1459150"/>
            <a:ext cx="7791900" cy="11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-"/>
            </a:pPr>
            <a:r>
              <a:rPr b="1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Non-branded kelimelerin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aranma hacmine baktığımızda tüm segmentlerde YoY düşüş görülmektedir. </a:t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-"/>
            </a:pP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En yüksek düşüş </a:t>
            </a:r>
            <a:r>
              <a:rPr b="1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Karo Seramik Ürünleri 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kategorisindedir </a:t>
            </a:r>
            <a:r>
              <a:rPr b="0" i="0" lang="en-US" sz="2600" u="none" cap="none" strike="noStrike">
                <a:solidFill>
                  <a:srgbClr val="EA4435"/>
                </a:solidFill>
                <a:latin typeface="Outfit"/>
                <a:ea typeface="Outfit"/>
                <a:cs typeface="Outfit"/>
                <a:sym typeface="Outfit"/>
              </a:rPr>
              <a:t>(%50)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-"/>
            </a:pP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MoM kıyasladığımızda ise daha düşük oranlarda seyretmekle birlikte tüm kategorilerde düşüş gözlenmiştir.</a:t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2600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2600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600"/>
              <a:buFont typeface="Outfit"/>
              <a:buChar char="-"/>
            </a:pPr>
            <a:r>
              <a:rPr b="1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Brand+category kelimelerin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aranma hacmine baktığımızda YoY kıyaslamada </a:t>
            </a:r>
            <a:r>
              <a:rPr b="1" i="0" lang="en-US" sz="2600" u="none" cap="none" strike="noStrike">
                <a:solidFill>
                  <a:srgbClr val="27AE60"/>
                </a:solidFill>
                <a:latin typeface="Outfit"/>
                <a:ea typeface="Outfit"/>
                <a:cs typeface="Outfit"/>
                <a:sym typeface="Outfit"/>
              </a:rPr>
              <a:t>Banyo Aksesuarları (%4)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hariç tüm kategorilerde düşüş görülmektedir. </a:t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600"/>
              <a:buFont typeface="Outfit"/>
              <a:buChar char="-"/>
            </a:pP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En yüksek düşüş yaşanan segment </a:t>
            </a:r>
            <a:r>
              <a:rPr b="0" i="0" lang="en-US" sz="26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Karo Seramik Ürünleri (%12) ve Rezervuarlardır (%11).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600"/>
              <a:buFont typeface="Outfit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MoM kıyaslamada ise </a:t>
            </a:r>
            <a:r>
              <a:rPr b="1" i="0" lang="en-US" sz="26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Banyo Aksesuarları (%3) ve Yıkanma Alanları (%1)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dışında </a:t>
            </a:r>
            <a:r>
              <a:rPr lang="en-US" sz="2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artış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yaşanmıştır. 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600"/>
              <a:buFont typeface="Outfit"/>
              <a:buChar char="-"/>
            </a:pP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En yüksek düşüş Banyo Mobilyaları, Karo Seramik Ürünleri ve Vitrifiyeler kategorilerindedir.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106" name="Google Shape;106;g3cab91def82_0_37"/>
          <p:cNvGraphicFramePr/>
          <p:nvPr/>
        </p:nvGraphicFramePr>
        <p:xfrm>
          <a:off x="8592225" y="716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3171300"/>
                <a:gridCol w="1468200"/>
                <a:gridCol w="1468200"/>
                <a:gridCol w="1468200"/>
              </a:tblGrid>
              <a:tr h="84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Marka + Kategori Aranma Hacimleri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Dec 2025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Jan 2026 Avg.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MoM Change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0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Armatürler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16,480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14,870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-10%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Aksesuarları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2,350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A948D"/>
                    </a:solidFill>
                    <a:extLst>
                      <a:ext uri="http://customooxmlschemas.google.com/">
                        <go:slidesCustomData xmlns:go="http://customooxmlschemas.google.com/" cellId="10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2,430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3%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Banyo Mobilyaları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20,230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16,940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-16%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Duşlar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4,310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4,040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-6%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Karo Seramik Ürünleri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11,160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9,760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Rezervuarlar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20,250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2EDE0"/>
                    </a:solidFill>
                    <a:extLst>
                      <a:ext uri="http://customooxmlschemas.google.com/">
                        <go:slidesCustomData xmlns:go="http://customooxmlschemas.google.com/" cellId="10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19,210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Vitrifiyeler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49,160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43,570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-11%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3"/>
                      </a:ext>
                    </a:extLst>
                  </a:tcPr>
                </a:tc>
              </a:tr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Yıkanma Alanları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2,320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2,350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0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1%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3"/>
                      </a:ext>
                    </a:extLst>
                  </a:tcPr>
                </a:tc>
              </a:tr>
              <a:tr h="48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1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0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126,260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0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113,170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0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2" name="Google Shape;112;g2e3c0731b07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3" name="Google Shape;113;g2e3c0731b07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4" name="Google Shape;114;g2e3c0731b07_0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2e3c0731b07_0_12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e3c0731b07_0_122"/>
          <p:cNvSpPr/>
          <p:nvPr/>
        </p:nvSpPr>
        <p:spPr>
          <a:xfrm>
            <a:off x="406449" y="406400"/>
            <a:ext cx="1082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Rekabet | Arama Hacmi Değişimi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" name="Google Shape;117;g2e3c0731b07_0_122"/>
          <p:cNvSpPr/>
          <p:nvPr/>
        </p:nvSpPr>
        <p:spPr>
          <a:xfrm>
            <a:off x="406450" y="1219200"/>
            <a:ext cx="233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&amp; Rakip Arama Hacmi Değişimi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18" name="Google Shape;118;g2e3c0731b07_0_122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2e3c0731b07_0_122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6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20" name="Google Shape;120;g2e3c0731b07_0_122"/>
          <p:cNvGraphicFramePr/>
          <p:nvPr/>
        </p:nvGraphicFramePr>
        <p:xfrm>
          <a:off x="538075" y="286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091475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  <a:gridCol w="1358100"/>
              </a:tblGrid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Brand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Jan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Feb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Mar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Apr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May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Jun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Jul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Aug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Sep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Oct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Nov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Dec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Jan 2026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YoY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MoM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0:0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trendyol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D2B1"/>
                    </a:solidFill>
                    <a:extLst>
                      <a:ext uri="http://customooxmlschemas.google.com/">
                        <go:slidesCustomData xmlns:go="http://customooxmlschemas.google.com/" cellId="12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D2B1"/>
                    </a:solidFill>
                    <a:extLst>
                      <a:ext uri="http://customooxmlschemas.google.com/">
                        <go:slidesCustomData xmlns:go="http://customooxmlschemas.google.com/" cellId="120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D2B1"/>
                    </a:solidFill>
                    <a:extLst>
                      <a:ext uri="http://customooxmlschemas.google.com/">
                        <go:slidesCustomData xmlns:go="http://customooxmlschemas.google.com/" cellId="120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13.6M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120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1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1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hepsiburada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2.7M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2.7M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2.7M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5E3"/>
                    </a:solidFill>
                    <a:extLst>
                      <a:ext uri="http://customooxmlschemas.google.com/">
                        <go:slidesCustomData xmlns:go="http://customooxmlschemas.google.com/" cellId="120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2.7M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2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2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ikea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FC"/>
                    </a:solidFill>
                    <a:extLst>
                      <a:ext uri="http://customooxmlschemas.google.com/">
                        <go:slidesCustomData xmlns:go="http://customooxmlschemas.google.com/" cellId="120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23%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A853"/>
                    </a:solidFill>
                    <a:extLst>
                      <a:ext uri="http://customooxmlschemas.google.com/">
                        <go:slidesCustomData xmlns:go="http://customooxmlschemas.google.com/" cellId="120:3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3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koçtaş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823.0K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6"/>
                    </a:solidFill>
                    <a:extLst>
                      <a:ext uri="http://customooxmlschemas.google.com/">
                        <go:slidesCustomData xmlns:go="http://customooxmlschemas.google.com/" cellId="12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823.0K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6"/>
                    </a:solidFill>
                    <a:extLst>
                      <a:ext uri="http://customooxmlschemas.google.com/">
                        <go:slidesCustomData xmlns:go="http://customooxmlschemas.google.com/" cellId="12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823.0K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6"/>
                    </a:solidFill>
                    <a:extLst>
                      <a:ext uri="http://customooxmlschemas.google.com/">
                        <go:slidesCustomData xmlns:go="http://customooxmlschemas.google.com/" cellId="12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823.0K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6"/>
                    </a:solidFill>
                    <a:extLst>
                      <a:ext uri="http://customooxmlschemas.google.com/">
                        <go:slidesCustomData xmlns:go="http://customooxmlschemas.google.com/" cellId="120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823.0K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6"/>
                    </a:solidFill>
                    <a:extLst>
                      <a:ext uri="http://customooxmlschemas.google.com/">
                        <go:slidesCustomData xmlns:go="http://customooxmlschemas.google.com/" cellId="120: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4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4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bauhaus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246.0K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368.0K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368.0K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301.0K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5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5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kale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49.5K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0"/>
                    </a:solidFill>
                    <a:extLst>
                      <a:ext uri="http://customooxmlschemas.google.com/">
                        <go:slidesCustomData xmlns:go="http://customooxmlschemas.google.com/" cellId="12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49.5K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74.0K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1CB"/>
                    </a:solidFill>
                    <a:extLst>
                      <a:ext uri="http://customooxmlschemas.google.com/">
                        <go:slidesCustomData xmlns:go="http://customooxmlschemas.google.com/" cellId="120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74.0K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1CB"/>
                    </a:solidFill>
                    <a:extLst>
                      <a:ext uri="http://customooxmlschemas.google.com/">
                        <go:slidesCustomData xmlns:go="http://customooxmlschemas.google.com/" cellId="120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60.5K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49.5K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49.5K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6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6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vitra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27.1K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40.5K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27.1K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40.5K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40.5K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40.5K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33.1K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7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-18%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435"/>
                    </a:solidFill>
                    <a:extLst>
                      <a:ext uri="http://customooxmlschemas.google.com/">
                        <go:slidesCustomData xmlns:go="http://customooxmlschemas.google.com/" cellId="120:7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creavit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6E5"/>
                    </a:solidFill>
                    <a:extLst>
                      <a:ext uri="http://customooxmlschemas.google.com/">
                        <go:slidesCustomData xmlns:go="http://customooxmlschemas.google.com/" cellId="120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6E5"/>
                    </a:solidFill>
                    <a:extLst>
                      <a:ext uri="http://customooxmlschemas.google.com/">
                        <go:slidesCustomData xmlns:go="http://customooxmlschemas.google.com/" cellId="120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6E5"/>
                    </a:solidFill>
                    <a:extLst>
                      <a:ext uri="http://customooxmlschemas.google.com/">
                        <go:slidesCustomData xmlns:go="http://customooxmlschemas.google.com/" cellId="120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8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-18%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535"/>
                    </a:solidFill>
                    <a:extLst>
                      <a:ext uri="http://customooxmlschemas.google.com/">
                        <go:slidesCustomData xmlns:go="http://customooxmlschemas.google.com/" cellId="120:8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artema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9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-19%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20:9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geberit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120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22%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AA54"/>
                    </a:solidFill>
                    <a:extLst>
                      <a:ext uri="http://customooxmlschemas.google.com/">
                        <go:slidesCustomData xmlns:go="http://customooxmlschemas.google.com/" cellId="120:10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10:15"/>
                      </a:ext>
                    </a:extLst>
                  </a:tcPr>
                </a:tc>
              </a:tr>
              <a:tr h="5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grohe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0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6E5"/>
                    </a:solidFill>
                    <a:extLst>
                      <a:ext uri="http://customooxmlschemas.google.com/">
                        <go:slidesCustomData xmlns:go="http://customooxmlschemas.google.com/" cellId="120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6E5"/>
                    </a:solidFill>
                    <a:extLst>
                      <a:ext uri="http://customooxmlschemas.google.com/">
                        <go:slidesCustomData xmlns:go="http://customooxmlschemas.google.com/" cellId="120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0:1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0:1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0%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120:11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-18%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535"/>
                    </a:solidFill>
                    <a:extLst>
                      <a:ext uri="http://customooxmlschemas.google.com/">
                        <go:slidesCustomData xmlns:go="http://customooxmlschemas.google.com/" cellId="120:11:15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21" name="Google Shape;121;g2e3c0731b07_0_122"/>
          <p:cNvSpPr/>
          <p:nvPr/>
        </p:nvSpPr>
        <p:spPr>
          <a:xfrm>
            <a:off x="870250" y="10260338"/>
            <a:ext cx="224631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Char char="-"/>
            </a:pPr>
            <a:r>
              <a:rPr b="1" i="0" lang="en-US" sz="40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Rakip arama hacimleri YoY kıyaslandığında Ikea </a:t>
            </a:r>
            <a:r>
              <a:rPr b="1" i="0" lang="en-US" sz="40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(%23)</a:t>
            </a:r>
            <a:r>
              <a:rPr b="1" i="0" lang="en-US" sz="40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ve Geberit </a:t>
            </a:r>
            <a:r>
              <a:rPr b="1" i="0" lang="en-US" sz="40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(%22) artış yakalarken, </a:t>
            </a:r>
            <a:r>
              <a:rPr b="1" i="0" lang="en-US" sz="40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diğer rakiplerin sabit kaldığı gözlemlenmiştir.</a:t>
            </a:r>
            <a:endParaRPr b="1" i="0" sz="40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Char char="-"/>
            </a:pPr>
            <a:r>
              <a:rPr b="1" i="0" lang="en-US" sz="4000" u="none" cap="none" strike="noStrike">
                <a:solidFill>
                  <a:srgbClr val="FF7B5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MoM kıyaslamada</a:t>
            </a:r>
            <a:r>
              <a:rPr b="1" i="0" lang="en-US" sz="40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ise Geberit dışında </a:t>
            </a:r>
            <a:r>
              <a:rPr b="1" i="0" lang="en-US" sz="40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dikey markalarda düşüş </a:t>
            </a:r>
            <a:r>
              <a:rPr b="1" i="0" lang="en-US" sz="40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görülmektedir.</a:t>
            </a:r>
            <a:endParaRPr b="1" i="0" sz="40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7" name="Google Shape;127;g33d7f9d02ad_1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3d7f9d02ad_1_92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9" name="Google Shape;129;g33d7f9d02ad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3d7f9d02ad_1_92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1" name="Google Shape;131;g33d7f9d02ad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3d7f9d02ad_1_92"/>
          <p:cNvSpPr/>
          <p:nvPr/>
        </p:nvSpPr>
        <p:spPr>
          <a:xfrm>
            <a:off x="-22541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02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3d7f9d02ad_1_92"/>
          <p:cNvSpPr/>
          <p:nvPr/>
        </p:nvSpPr>
        <p:spPr>
          <a:xfrm>
            <a:off x="280861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vitra.com.tr - GA4 Trafik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39" name="Google Shape;139;g358f12b07e9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58f12b07e9_0_51"/>
          <p:cNvSpPr txBox="1"/>
          <p:nvPr/>
        </p:nvSpPr>
        <p:spPr>
          <a:xfrm>
            <a:off x="15583800" y="2850201"/>
            <a:ext cx="8388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ayında gelen </a:t>
            </a:r>
            <a:r>
              <a:rPr b="1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 trafiğin (298.7K) %56’sını (169K) </a:t>
            </a:r>
            <a:r>
              <a:rPr b="1" i="0" lang="en-US" sz="3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organik kanal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oluşturmaktadır.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141" name="Google Shape;141;g358f12b07e9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g358f12b07e9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3" name="Google Shape;143;g358f12b07e9_0_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58f12b07e9_0_5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58f12b07e9_0_51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58f12b07e9_0_5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Analytics Ocak 2026 Verileri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147" name="Google Shape;147;g358f12b07e9_0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450" y="2658325"/>
            <a:ext cx="14640899" cy="897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58f12b07e9_0_51"/>
          <p:cNvSpPr txBox="1"/>
          <p:nvPr/>
        </p:nvSpPr>
        <p:spPr>
          <a:xfrm>
            <a:off x="15583800" y="9481450"/>
            <a:ext cx="8388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Organik session’lar </a:t>
            </a:r>
            <a:r>
              <a:rPr b="0" i="0" lang="en-US" sz="32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MoM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kıyaslandığında  </a:t>
            </a:r>
            <a:r>
              <a:rPr b="1" i="0" lang="en-US" sz="32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%13’lük düşüş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gösterirken, </a:t>
            </a:r>
            <a:r>
              <a:rPr b="0" i="0" lang="en-US" sz="32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YoY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karşılaştırmada </a:t>
            </a:r>
            <a:r>
              <a:rPr b="1" i="0" lang="en-US" sz="32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%182 artış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kaydetmiştir.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49" name="Google Shape;149;g358f12b07e9_0_51"/>
          <p:cNvGrpSpPr/>
          <p:nvPr/>
        </p:nvGrpSpPr>
        <p:grpSpPr>
          <a:xfrm>
            <a:off x="15584108" y="5158289"/>
            <a:ext cx="8129736" cy="3978159"/>
            <a:chOff x="16013485" y="5252624"/>
            <a:chExt cx="6800850" cy="3207675"/>
          </a:xfrm>
        </p:grpSpPr>
        <p:pic>
          <p:nvPicPr>
            <p:cNvPr id="150" name="Google Shape;150;g358f12b07e9_0_5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013485" y="5252624"/>
              <a:ext cx="6800850" cy="14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g358f12b07e9_0_5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018247" y="6993449"/>
              <a:ext cx="6791325" cy="1466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57" name="Google Shape;157;g3ca5972856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ca5972856b_0_0"/>
          <p:cNvSpPr txBox="1"/>
          <p:nvPr/>
        </p:nvSpPr>
        <p:spPr>
          <a:xfrm>
            <a:off x="1240125" y="9298350"/>
            <a:ext cx="140238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700"/>
              <a:buFont typeface="Outfit"/>
              <a:buChar char="-"/>
            </a:pPr>
            <a:r>
              <a:rPr b="1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ayında YoY kıyaslamada</a:t>
            </a:r>
            <a:r>
              <a:rPr b="0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7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Total Revenue</a:t>
            </a:r>
            <a:r>
              <a:rPr b="0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7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%29.8 artarak 1.2M</a:t>
            </a:r>
            <a:r>
              <a:rPr b="0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seviyesine ulaşmıştır.</a:t>
            </a:r>
            <a:endParaRPr b="0" i="0" sz="27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700"/>
              <a:buFont typeface="Outfit"/>
              <a:buChar char="-"/>
            </a:pPr>
            <a:r>
              <a:rPr b="1" i="0" lang="en-US" sz="27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Organik gelir</a:t>
            </a:r>
            <a:r>
              <a:rPr b="0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ise </a:t>
            </a:r>
            <a:r>
              <a:rPr b="0" i="0" lang="en-US" sz="27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%1.8 düşüş</a:t>
            </a:r>
            <a:r>
              <a:rPr b="0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göstermiş ve </a:t>
            </a:r>
            <a:r>
              <a:rPr b="1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organik kanalın toplam gelir içindeki payı </a:t>
            </a:r>
            <a:r>
              <a:rPr b="0" i="0" lang="en-US" sz="27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%45.3’e (-14.6)</a:t>
            </a:r>
            <a:r>
              <a:rPr b="0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gerilemiştir.</a:t>
            </a:r>
            <a:endParaRPr b="0" i="0" sz="27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700"/>
              <a:buFont typeface="Outfit"/>
              <a:buChar char="-"/>
            </a:pPr>
            <a:r>
              <a:rPr b="1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 işlem sayısı </a:t>
            </a:r>
            <a:r>
              <a:rPr b="1" i="0" lang="en-US" sz="27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%14.2 artışla 145’e yükselmiştir.</a:t>
            </a:r>
            <a:endParaRPr b="1" i="0" sz="2700" u="none" cap="none" strike="noStrike">
              <a:solidFill>
                <a:srgbClr val="34A85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700"/>
              <a:buFont typeface="Outfit"/>
              <a:buChar char="-"/>
            </a:pPr>
            <a:r>
              <a:rPr b="1" i="0" lang="en-US" sz="27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Organik işlemler </a:t>
            </a:r>
            <a:r>
              <a:rPr b="0" i="0" lang="en-US" sz="27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%10.7 düşmüştür.</a:t>
            </a:r>
            <a:endParaRPr b="0" i="0" sz="27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700"/>
              <a:buFont typeface="Outfit"/>
              <a:buChar char="-"/>
            </a:pPr>
            <a:r>
              <a:rPr b="1" i="0" lang="en-US" sz="27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Organik kanalın toplam işlem içindeki payı </a:t>
            </a:r>
            <a:r>
              <a:rPr b="0" i="0" lang="en-US" sz="27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%46.2’ye gerilemiştir (-12.8).</a:t>
            </a:r>
            <a:endParaRPr b="0" i="0" sz="2700" u="none" cap="none" strike="noStrike">
              <a:solidFill>
                <a:srgbClr val="EA4335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159" name="Google Shape;159;g3ca5972856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60" name="Google Shape;160;g3ca5972856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61" name="Google Shape;161;g3ca5972856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ca5972856b_0_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ca5972856b_0_0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a5972856b_0_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Analytics Ocak 2026 Verileri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165" name="Google Shape;165;g3ca5972856b_0_0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4075" y="2153150"/>
            <a:ext cx="20013850" cy="6752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166" name="Google Shape;166;g3ca5972856b_0_0"/>
          <p:cNvGraphicFramePr/>
          <p:nvPr/>
        </p:nvGraphicFramePr>
        <p:xfrm>
          <a:off x="15630500" y="91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803525"/>
                <a:gridCol w="1869025"/>
                <a:gridCol w="1869025"/>
                <a:gridCol w="1869025"/>
              </a:tblGrid>
              <a:tr h="4980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Revenue YoY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6:0:0"/>
                      </a:ext>
                    </a:extLst>
                  </a:tcPr>
                </a:tc>
                <a:tc hMerge="1"/>
                <a:tc hMerge="1"/>
                <a:tc hMerge="1"/>
              </a:tr>
              <a:tr h="45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Jan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Jan 2026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% Change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6:1:3"/>
                      </a:ext>
                    </a:extLst>
                  </a:tcPr>
                </a:tc>
              </a:tr>
              <a:tr h="37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7A7B7D"/>
                          </a:solidFill>
                        </a:rPr>
                        <a:t>Total Revenue</a:t>
                      </a:r>
                      <a:endParaRPr sz="2100" u="none" cap="none" strike="noStrike">
                        <a:solidFill>
                          <a:srgbClr val="7A7B7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961.9K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1.2M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29.8%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  <a:extLst>
                      <a:ext uri="http://customooxmlschemas.google.com/">
                        <go:slidesCustomData xmlns:go="http://customooxmlschemas.google.com/" cellId="166:2:3"/>
                      </a:ext>
                    </a:extLst>
                  </a:tcPr>
                </a:tc>
              </a:tr>
              <a:tr h="37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7A7B7D"/>
                          </a:solidFill>
                        </a:rPr>
                        <a:t>Organic Revenue</a:t>
                      </a:r>
                      <a:endParaRPr sz="2100" u="none" cap="none" strike="noStrike">
                        <a:solidFill>
                          <a:srgbClr val="7A7B7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575.6K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565.1K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-1.8%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166:3:3"/>
                      </a:ext>
                    </a:extLst>
                  </a:tcPr>
                </a:tc>
              </a:tr>
              <a:tr h="37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7A7B7D"/>
                          </a:solidFill>
                        </a:rPr>
                        <a:t>Organic/Total %</a:t>
                      </a:r>
                      <a:endParaRPr sz="2100" u="none" cap="none" strike="noStrike">
                        <a:solidFill>
                          <a:srgbClr val="7A7B7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59.8%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45.3%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-14.6%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166:4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67" name="Google Shape;167;g3ca5972856b_0_0"/>
          <p:cNvGraphicFramePr/>
          <p:nvPr/>
        </p:nvGraphicFramePr>
        <p:xfrm>
          <a:off x="15630500" y="1147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803525"/>
                <a:gridCol w="1869025"/>
                <a:gridCol w="1869025"/>
                <a:gridCol w="1869025"/>
              </a:tblGrid>
              <a:tr h="4053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Transaction YoY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7:0:0"/>
                      </a:ext>
                    </a:extLst>
                  </a:tcPr>
                </a:tc>
                <a:tc hMerge="1"/>
                <a:tc hMerge="1"/>
                <a:tc hMerge="1"/>
              </a:tr>
              <a:tr h="40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Jan 2025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7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Jan 2026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7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% Change</a:t>
                      </a:r>
                      <a:endParaRPr b="1" sz="2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167:1:3"/>
                      </a:ext>
                    </a:extLst>
                  </a:tcPr>
                </a:tc>
              </a:tr>
              <a:tr h="38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7A7B7D"/>
                          </a:solidFill>
                        </a:rPr>
                        <a:t>Total Transaction</a:t>
                      </a:r>
                      <a:endParaRPr sz="2100" u="none" cap="none" strike="noStrike">
                        <a:solidFill>
                          <a:srgbClr val="7A7B7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127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145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14.2%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  <a:extLst>
                      <a:ext uri="http://customooxmlschemas.google.com/">
                        <go:slidesCustomData xmlns:go="http://customooxmlschemas.google.com/" cellId="167:2:3"/>
                      </a:ext>
                    </a:extLst>
                  </a:tcPr>
                </a:tc>
              </a:tr>
              <a:tr h="41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7A7B7D"/>
                          </a:solidFill>
                        </a:rPr>
                        <a:t>Organic Transaction</a:t>
                      </a:r>
                      <a:endParaRPr sz="2100" u="none" cap="none" strike="noStrike">
                        <a:solidFill>
                          <a:srgbClr val="7A7B7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75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67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-10.7%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167:3:3"/>
                      </a:ext>
                    </a:extLst>
                  </a:tcPr>
                </a:tc>
              </a:tr>
              <a:tr h="38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7A7B7D"/>
                          </a:solidFill>
                        </a:rPr>
                        <a:t>Organic/Total %</a:t>
                      </a:r>
                      <a:endParaRPr sz="2100" u="none" cap="none" strike="noStrike">
                        <a:solidFill>
                          <a:srgbClr val="7A7B7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59.1%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46.2%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-12.8%</a:t>
                      </a:r>
                      <a:endParaRPr sz="2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167:4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3" name="Google Shape;173;g3c8f0b24be0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c8f0b24be0_0_76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5" name="Google Shape;175;g3c8f0b24be0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c8f0b24be0_0_76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7" name="Google Shape;177;g3c8f0b24be0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c8f0b24be0_0_76"/>
          <p:cNvSpPr/>
          <p:nvPr/>
        </p:nvSpPr>
        <p:spPr>
          <a:xfrm>
            <a:off x="-22541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03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c8f0b24be0_0_76"/>
          <p:cNvSpPr/>
          <p:nvPr/>
        </p:nvSpPr>
        <p:spPr>
          <a:xfrm>
            <a:off x="280861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vitra.com.tr - GSC Trafik, Sıralama, Visibility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85" name="Google Shape;185;g358f12b07e9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58f12b07e9_0_182"/>
          <p:cNvSpPr txBox="1"/>
          <p:nvPr/>
        </p:nvSpPr>
        <p:spPr>
          <a:xfrm>
            <a:off x="15094950" y="2422225"/>
            <a:ext cx="9006000" cy="7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Google Search Console verilerine göre, </a:t>
            </a:r>
            <a:endParaRPr b="1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Outfit"/>
              <a:buChar char="-"/>
            </a:pP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ayında vitra.com.tr </a:t>
            </a:r>
            <a:r>
              <a:rPr b="0" i="0" lang="en-US" sz="28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3.9M gösterim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almıştır, geçen aya göre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%9 azalmıştır.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Outfit"/>
              <a:buChar char="-"/>
            </a:pP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CTR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geçen aya göre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%0.8,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tıklama </a:t>
            </a:r>
            <a:r>
              <a:rPr b="0" i="0" lang="en-US" sz="28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ise</a:t>
            </a:r>
            <a:r>
              <a:rPr b="1" i="0" lang="en-US" sz="28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%10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azalmıştır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Outfit"/>
              <a:buChar char="-"/>
            </a:pP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Brand Impression’lar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geçen aya göre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%9.5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tıklamalar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%21</a:t>
            </a:r>
            <a:r>
              <a:rPr b="1" i="0" lang="en-US" sz="2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CTR ise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%13</a:t>
            </a:r>
            <a:r>
              <a:rPr b="0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azalmıştır.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 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Outfit"/>
              <a:buChar char="-"/>
            </a:pP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Non-brand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kelimelerde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Impression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%8</a:t>
            </a:r>
            <a:r>
              <a:rPr b="0" i="0" lang="en-US" sz="2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tıklamalar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ise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%4 azalmıştır.</a:t>
            </a:r>
            <a:endParaRPr b="1" i="0" sz="2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187" name="Google Shape;187;g358f12b07e9_0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8" name="Google Shape;188;g358f12b07e9_0_1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58f12b07e9_0_18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8f12b07e9_0_18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Verileri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91" name="Google Shape;191;g358f12b07e9_0_182"/>
          <p:cNvSpPr/>
          <p:nvPr/>
        </p:nvSpPr>
        <p:spPr>
          <a:xfrm>
            <a:off x="406450" y="406400"/>
            <a:ext cx="7107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Brand &amp; Non-Brand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58f12b07e9_0_1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3025" y="2963225"/>
            <a:ext cx="14373724" cy="427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58f12b07e9_0_1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35193" y="10141755"/>
            <a:ext cx="21316799" cy="32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99" name="Google Shape;199;g358f12b07e9_0_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58f12b07e9_0_195"/>
          <p:cNvSpPr txBox="1"/>
          <p:nvPr/>
        </p:nvSpPr>
        <p:spPr>
          <a:xfrm>
            <a:off x="15763875" y="3696850"/>
            <a:ext cx="8198700" cy="6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utfit"/>
              <a:buChar char="-"/>
            </a:pP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ayında gösterimler </a:t>
            </a:r>
            <a:r>
              <a:rPr b="1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geçtiğimiz yıla göre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%15 düşüş</a:t>
            </a:r>
            <a:r>
              <a:rPr b="1" i="0" lang="en-US" sz="32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göstermektedir</a:t>
            </a:r>
            <a:r>
              <a:rPr b="1" i="0" lang="en-US" sz="32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3200"/>
              <a:buFont typeface="Outfit"/>
              <a:buChar char="-"/>
            </a:pP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 </a:t>
            </a:r>
            <a:r>
              <a:rPr b="1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181.3K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tıklama, </a:t>
            </a:r>
            <a:r>
              <a:rPr b="1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3.9M gösterim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gerçekleşmiştir. 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utfit"/>
              <a:buChar char="-"/>
            </a:pP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ayı tıklamaları </a:t>
            </a:r>
            <a:r>
              <a:rPr b="1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geçtiğimiz yıla göre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%9 düşüş</a:t>
            </a:r>
            <a:r>
              <a:rPr b="1" i="0" lang="en-US" sz="32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göstermektedir</a:t>
            </a:r>
            <a:r>
              <a:rPr b="1" i="0" lang="en-US" sz="32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201" name="Google Shape;201;g358f12b07e9_0_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2" name="Google Shape;202;g358f12b07e9_0_1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58f12b07e9_0_19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58f12b07e9_0_19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Verileri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05" name="Google Shape;205;g358f12b07e9_0_195"/>
          <p:cNvSpPr/>
          <p:nvPr/>
        </p:nvSpPr>
        <p:spPr>
          <a:xfrm>
            <a:off x="406450" y="406400"/>
            <a:ext cx="73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g358f12b07e9_0_195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75" y="7894572"/>
            <a:ext cx="14946101" cy="548620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g358f12b07e9_0_195" title="Chart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075" y="2229325"/>
            <a:ext cx="14983601" cy="5499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g358f12b07e9_0_195"/>
          <p:cNvSpPr txBox="1"/>
          <p:nvPr/>
        </p:nvSpPr>
        <p:spPr>
          <a:xfrm>
            <a:off x="538075" y="13347855"/>
            <a:ext cx="5144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00000"/>
                </a:solidFill>
                <a:latin typeface="Outfit ExtraLight"/>
                <a:ea typeface="Outfit ExtraLight"/>
                <a:cs typeface="Outfit ExtraLight"/>
                <a:sym typeface="Outfit ExtraLight"/>
              </a:rPr>
              <a:t>*2025 Aralık ayında domain geçişi gerçekleşmiştir.</a:t>
            </a:r>
            <a:endParaRPr b="0" i="1" sz="1500" u="none" cap="none" strike="noStrike">
              <a:solidFill>
                <a:srgbClr val="000000"/>
              </a:solidFill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4" name="Google Shape;214;g37132f460d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5" name="Google Shape;215;g37132f460d5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6" name="Google Shape;216;g37132f460d5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7132f460d5_0_1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7132f460d5_0_16"/>
          <p:cNvSpPr/>
          <p:nvPr/>
        </p:nvSpPr>
        <p:spPr>
          <a:xfrm>
            <a:off x="406450" y="1219200"/>
            <a:ext cx="2171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 Ocak - 31 Ocak SEOmonitor Visibility Değişimi &amp; Rekabet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19" name="Google Shape;219;g37132f460d5_0_16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Competitor Visibility Comparison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7132f460d5_0_16"/>
          <p:cNvSpPr/>
          <p:nvPr/>
        </p:nvSpPr>
        <p:spPr>
          <a:xfrm>
            <a:off x="1500625" y="12861650"/>
            <a:ext cx="42177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7132f460d5_0_16"/>
          <p:cNvSpPr txBox="1"/>
          <p:nvPr/>
        </p:nvSpPr>
        <p:spPr>
          <a:xfrm>
            <a:off x="2218975" y="12861650"/>
            <a:ext cx="325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Kaynak: SEOmonitor</a:t>
            </a:r>
            <a:endParaRPr b="0" i="0" sz="23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22" name="Google Shape;222;g37132f460d5_0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178" y="2305550"/>
            <a:ext cx="7546924" cy="103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7132f460d5_0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59500" y="2305550"/>
            <a:ext cx="2350387" cy="103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7132f460d5_0_16"/>
          <p:cNvSpPr txBox="1"/>
          <p:nvPr/>
        </p:nvSpPr>
        <p:spPr>
          <a:xfrm>
            <a:off x="12112525" y="3387000"/>
            <a:ext cx="11277900" cy="7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Visibility score, </a:t>
            </a:r>
            <a:r>
              <a:rPr b="0" i="1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projesi özelinde takip edilen kelimelerin görünürlük oranını yüzdesel olarak gösterir.</a:t>
            </a:r>
            <a:endParaRPr b="0" i="1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1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Projesi kapsamında marka özelinde belirlenen </a:t>
            </a:r>
            <a:r>
              <a:rPr b="1" i="1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2.300 hedef anahtar kelime</a:t>
            </a:r>
            <a:r>
              <a:rPr b="0" i="1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takip edilmektedir.</a:t>
            </a:r>
            <a:endParaRPr b="0" i="1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Ocak ayında görünürlük </a:t>
            </a:r>
            <a:r>
              <a:rPr b="1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mobilde 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%3.5 düşerken,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desktop’ta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%2.6’lık düşüş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gerçekleşmiştir.</a:t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Ocak ayında genel trende bakıldığında dikey rakiplerde yaygın olarak visibility düşüşü izlenmektedir. Düşüşün mobil tarafta daha belirgin olduğu görülmektedir.</a:t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Bauhaus’tan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(-3.7%)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sonra Vitra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(-3.5%) 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yüksek düşüş yaşayan markalar arasındadır.</a:t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Marketplace tarafında </a:t>
            </a:r>
            <a:r>
              <a:rPr b="1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Trendyol %93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oranıyla rakiplerden pozitif olarak ayrışmaktadır. </a:t>
            </a:r>
            <a:r>
              <a:rPr b="1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Hepsiburada’nın mobil  visibility skoru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%2.1  kayıpla %58’e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düşmüştür. </a:t>
            </a:r>
            <a:r>
              <a:rPr b="1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Koçtaş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ise hafif düşüşle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%76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görünürlük almıştır.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0" name="Google Shape;230;g3c9752f9680_6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c9752f9680_6_18"/>
          <p:cNvSpPr txBox="1"/>
          <p:nvPr/>
        </p:nvSpPr>
        <p:spPr>
          <a:xfrm>
            <a:off x="1730150" y="9701078"/>
            <a:ext cx="214671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SEOmonitor üzerinden takip ettiğimiz 2.3K civarı kelimede 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 çok tıklama alan marka %30.1 oranla Trendyol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olmuştur. 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Koçtaş %11.4 oranla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en çok tıklama alan 2. marka olmuştur. 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vitra.com.tr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%9 oranıyla tıklamalarda 3. en büyük paya sahip markadır.</a:t>
            </a:r>
            <a:endParaRPr b="1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Marketplace’ler 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(Trendyol %25.6; Hepsiburada %24)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AI SOV tarafında en büyük paya sahipken;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Koçtaş %18.1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oranla,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vi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tra.com.tr ise %12.1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oranıyla en yüksek SoV’ye sahip markalar olarak öne çıkmaktadır.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</a:t>
            </a:r>
            <a:r>
              <a:rPr b="0" i="1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AI Share of Voice takip edilen kelimelerin arama hacimlerine ve bu kelimelerdeki AI yanıtlarında bahsedilme ve linklenme oranına göre hesaplanır.</a:t>
            </a:r>
            <a:endParaRPr b="0" i="1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232" name="Google Shape;232;g3c9752f9680_6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" name="Google Shape;233;g3c9752f9680_6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c9752f9680_6_18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c9752f9680_6_18"/>
          <p:cNvSpPr/>
          <p:nvPr/>
        </p:nvSpPr>
        <p:spPr>
          <a:xfrm>
            <a:off x="406450" y="1219200"/>
            <a:ext cx="2274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 Ocak - 31 Ocak Share of Clicks &amp; AI Search Share of Voice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36" name="Google Shape;236;g3c9752f9680_6_18"/>
          <p:cNvSpPr/>
          <p:nvPr/>
        </p:nvSpPr>
        <p:spPr>
          <a:xfrm>
            <a:off x="1576825" y="12861650"/>
            <a:ext cx="42177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c9752f9680_6_18"/>
          <p:cNvSpPr txBox="1"/>
          <p:nvPr/>
        </p:nvSpPr>
        <p:spPr>
          <a:xfrm>
            <a:off x="2295175" y="12861650"/>
            <a:ext cx="325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Kaynak: SEOmonitor</a:t>
            </a:r>
            <a:endParaRPr b="0" i="0" sz="23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38" name="Google Shape;238;g3c9752f9680_6_18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Total Click Share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g3c9752f9680_6_18"/>
          <p:cNvGrpSpPr/>
          <p:nvPr/>
        </p:nvGrpSpPr>
        <p:grpSpPr>
          <a:xfrm>
            <a:off x="3187055" y="2230148"/>
            <a:ext cx="19192875" cy="7457582"/>
            <a:chOff x="3219900" y="2531543"/>
            <a:chExt cx="19192875" cy="7457582"/>
          </a:xfrm>
        </p:grpSpPr>
        <p:grpSp>
          <p:nvGrpSpPr>
            <p:cNvPr id="240" name="Google Shape;240;g3c9752f9680_6_18"/>
            <p:cNvGrpSpPr/>
            <p:nvPr/>
          </p:nvGrpSpPr>
          <p:grpSpPr>
            <a:xfrm>
              <a:off x="4803175" y="2599601"/>
              <a:ext cx="6407912" cy="6085825"/>
              <a:chOff x="4606100" y="2731638"/>
              <a:chExt cx="6407912" cy="6085825"/>
            </a:xfrm>
          </p:grpSpPr>
          <p:pic>
            <p:nvPicPr>
              <p:cNvPr id="241" name="Google Shape;241;g3c9752f9680_6_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606100" y="2731638"/>
                <a:ext cx="6197585" cy="6085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" name="Google Shape;242;g3c9752f9680_6_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651812" y="5173500"/>
                <a:ext cx="2362200" cy="55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g3c9752f9680_6_1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23237" y="6754225"/>
                <a:ext cx="2390775" cy="542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4" name="Google Shape;244;g3c9752f9680_6_1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930087" y="7870925"/>
                <a:ext cx="1971675" cy="561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5" name="Google Shape;245;g3c9752f9680_6_18"/>
            <p:cNvGrpSpPr/>
            <p:nvPr/>
          </p:nvGrpSpPr>
          <p:grpSpPr>
            <a:xfrm>
              <a:off x="13299349" y="2531543"/>
              <a:ext cx="7270563" cy="6055345"/>
              <a:chOff x="13299349" y="2746878"/>
              <a:chExt cx="7270563" cy="6055345"/>
            </a:xfrm>
          </p:grpSpPr>
          <p:pic>
            <p:nvPicPr>
              <p:cNvPr id="246" name="Google Shape;246;g3c9752f9680_6_18"/>
              <p:cNvPicPr preferRelativeResize="0"/>
              <p:nvPr/>
            </p:nvPicPr>
            <p:blipFill rotWithShape="1">
              <a:blip r:embed="rId10">
                <a:alphaModFix/>
              </a:blip>
              <a:srcRect b="540" l="0" r="0" t="-540"/>
              <a:stretch/>
            </p:blipFill>
            <p:spPr>
              <a:xfrm>
                <a:off x="13920047" y="2746878"/>
                <a:ext cx="6126465" cy="60553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g3c9752f9680_6_1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8188649" y="4640100"/>
                <a:ext cx="238125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g3c9752f9680_6_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17912437" y="7101263"/>
                <a:ext cx="2657475" cy="561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g3c9752f9680_6_1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13693499" y="7297150"/>
                <a:ext cx="2419350" cy="542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0" name="Google Shape;250;g3c9752f9680_6_1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13299349" y="5725950"/>
                <a:ext cx="215265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1" name="Google Shape;251;g3c9752f9680_6_18"/>
            <p:cNvPicPr preferRelativeResize="0"/>
            <p:nvPr/>
          </p:nvPicPr>
          <p:blipFill rotWithShape="1">
            <a:blip r:embed="rId15">
              <a:alphaModFix/>
            </a:blip>
            <a:srcRect b="-15330" l="0" r="0" t="15330"/>
            <a:stretch/>
          </p:blipFill>
          <p:spPr>
            <a:xfrm>
              <a:off x="3219900" y="9131875"/>
              <a:ext cx="19192875" cy="857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g358f12b07e9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g358f12b07e9_0_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g358f12b07e9_0_2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58f12b07e9_0_23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58f12b07e9_0_237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- Anahtar Kelime Sıralamaları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62" name="Google Shape;262;g358f12b07e9_0_237"/>
          <p:cNvSpPr txBox="1"/>
          <p:nvPr/>
        </p:nvSpPr>
        <p:spPr>
          <a:xfrm>
            <a:off x="2431228" y="2174950"/>
            <a:ext cx="10775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Kategori Bazında Visibility Değişimleri</a:t>
            </a:r>
            <a:endParaRPr b="1" i="0" sz="40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63" name="Google Shape;263;g358f12b07e9_0_237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58f12b07e9_0_237"/>
          <p:cNvSpPr txBox="1"/>
          <p:nvPr/>
        </p:nvSpPr>
        <p:spPr>
          <a:xfrm>
            <a:off x="13914775" y="3191050"/>
            <a:ext cx="9006000" cy="10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900"/>
              <a:buFont typeface="Outfit"/>
              <a:buChar char="-"/>
            </a:pPr>
            <a:r>
              <a:rPr b="1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Kategori bazında visibility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değişimleri genel olarak </a:t>
            </a:r>
            <a:r>
              <a:rPr b="1" i="0" lang="en-US" sz="29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düşüş eğilimi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ile dikkat çekmektedir.</a:t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900"/>
              <a:buFont typeface="Outfit"/>
              <a:buChar char="-"/>
            </a:pP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ayında, AI Overviews gelmeden önce bir çok segmentteki markada benzer düşüş ve sıralama dalgalanmaları gözlenmiştir. </a:t>
            </a:r>
            <a:b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***Güncelde (şubat sonu ile birlikte) bu düşüşler düzelmiştir.</a:t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900"/>
              <a:buFont typeface="Outfit"/>
              <a:buChar char="-"/>
            </a:pPr>
            <a:r>
              <a:rPr b="1" i="0" lang="en-US" sz="2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Karo Seramik Ürünleri </a:t>
            </a:r>
            <a:r>
              <a:rPr b="1" i="0" lang="en-US" sz="29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%7.1’lik artışla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bu tabloda pozitif ayrışmaktadır. </a:t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900"/>
              <a:buFont typeface="Outfit"/>
              <a:buChar char="-"/>
            </a:pPr>
            <a:r>
              <a:rPr b="1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En yüksek düşüş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yaşanan kategoriler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9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Duşlar (%20), Armatür (%6)  ve Vitrifiyeler (%6.7)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olarak kaydedilmiştir.</a:t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g358f12b07e9_0_237"/>
          <p:cNvSpPr/>
          <p:nvPr/>
        </p:nvSpPr>
        <p:spPr>
          <a:xfrm>
            <a:off x="2736829" y="7336156"/>
            <a:ext cx="413700" cy="507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4335"/>
          </a:solidFill>
          <a:ln cap="flat" cmpd="sng" w="9525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g358f12b07e9_0_237"/>
          <p:cNvGrpSpPr/>
          <p:nvPr/>
        </p:nvGrpSpPr>
        <p:grpSpPr>
          <a:xfrm>
            <a:off x="2736829" y="3343415"/>
            <a:ext cx="9038373" cy="9576946"/>
            <a:chOff x="2736829" y="3343415"/>
            <a:chExt cx="9038373" cy="9576946"/>
          </a:xfrm>
        </p:grpSpPr>
        <p:grpSp>
          <p:nvGrpSpPr>
            <p:cNvPr id="267" name="Google Shape;267;g358f12b07e9_0_237"/>
            <p:cNvGrpSpPr/>
            <p:nvPr/>
          </p:nvGrpSpPr>
          <p:grpSpPr>
            <a:xfrm>
              <a:off x="2736829" y="3763424"/>
              <a:ext cx="413700" cy="6521422"/>
              <a:chOff x="2736829" y="3763424"/>
              <a:chExt cx="413700" cy="6521422"/>
            </a:xfrm>
          </p:grpSpPr>
          <p:sp>
            <p:nvSpPr>
              <p:cNvPr id="268" name="Google Shape;268;g358f12b07e9_0_237"/>
              <p:cNvSpPr/>
              <p:nvPr/>
            </p:nvSpPr>
            <p:spPr>
              <a:xfrm>
                <a:off x="2736829" y="3763424"/>
                <a:ext cx="413700" cy="5079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rgbClr val="EA4335"/>
              </a:solidFill>
              <a:ln cap="flat" cmpd="sng" w="9525">
                <a:solidFill>
                  <a:srgbClr val="EA43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g358f12b07e9_0_237"/>
              <p:cNvSpPr/>
              <p:nvPr/>
            </p:nvSpPr>
            <p:spPr>
              <a:xfrm>
                <a:off x="2736829" y="6140305"/>
                <a:ext cx="413700" cy="5079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rgbClr val="EA4335"/>
              </a:solidFill>
              <a:ln cap="flat" cmpd="sng" w="9525">
                <a:solidFill>
                  <a:srgbClr val="EA43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g358f12b07e9_0_237"/>
              <p:cNvSpPr/>
              <p:nvPr/>
            </p:nvSpPr>
            <p:spPr>
              <a:xfrm>
                <a:off x="2736829" y="9776946"/>
                <a:ext cx="413700" cy="5079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rgbClr val="EA4335"/>
              </a:solidFill>
              <a:ln cap="flat" cmpd="sng" w="9525">
                <a:solidFill>
                  <a:srgbClr val="EA433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1" name="Google Shape;271;g358f12b07e9_0_237"/>
            <p:cNvSpPr/>
            <p:nvPr/>
          </p:nvSpPr>
          <p:spPr>
            <a:xfrm rot="10800000">
              <a:off x="2736829" y="4924280"/>
              <a:ext cx="413700" cy="507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58f12b07e9_0_237"/>
            <p:cNvSpPr/>
            <p:nvPr/>
          </p:nvSpPr>
          <p:spPr>
            <a:xfrm rot="10800000">
              <a:off x="2736829" y="8526180"/>
              <a:ext cx="413700" cy="507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3" name="Google Shape;273;g358f12b07e9_0_237"/>
            <p:cNvGrpSpPr/>
            <p:nvPr/>
          </p:nvGrpSpPr>
          <p:grpSpPr>
            <a:xfrm>
              <a:off x="3239244" y="3343415"/>
              <a:ext cx="8535958" cy="9576946"/>
              <a:chOff x="3334752" y="3343450"/>
              <a:chExt cx="5543550" cy="6219604"/>
            </a:xfrm>
          </p:grpSpPr>
          <p:pic>
            <p:nvPicPr>
              <p:cNvPr id="274" name="Google Shape;274;g358f12b07e9_0_2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34752" y="3343450"/>
                <a:ext cx="5543550" cy="4800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5" name="Google Shape;275;g358f12b07e9_0_23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91902" y="8048579"/>
                <a:ext cx="5486400" cy="1514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6" name="Google Shape;276;g358f12b07e9_0_237"/>
            <p:cNvSpPr/>
            <p:nvPr/>
          </p:nvSpPr>
          <p:spPr>
            <a:xfrm>
              <a:off x="2736829" y="12171626"/>
              <a:ext cx="413700" cy="507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EA4335"/>
            </a:solidFill>
            <a:ln cap="flat" cmpd="sng" w="9525">
              <a:solidFill>
                <a:srgbClr val="EA43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58f12b07e9_0_237"/>
            <p:cNvSpPr/>
            <p:nvPr/>
          </p:nvSpPr>
          <p:spPr>
            <a:xfrm>
              <a:off x="2736829" y="10974283"/>
              <a:ext cx="413700" cy="507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EA4335"/>
            </a:solidFill>
            <a:ln cap="flat" cmpd="sng" w="9525">
              <a:solidFill>
                <a:srgbClr val="EA43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83" name="Google Shape;283;g3c9752f9680_6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4" name="Google Shape;284;g3c9752f9680_6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5" name="Google Shape;285;g3c9752f9680_6_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c9752f9680_6_6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c9752f9680_6_66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- Anahtar Kelime Sıralamaları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88" name="Google Shape;288;g3c9752f9680_6_66"/>
          <p:cNvSpPr txBox="1"/>
          <p:nvPr/>
        </p:nvSpPr>
        <p:spPr>
          <a:xfrm>
            <a:off x="3704163" y="2174950"/>
            <a:ext cx="69057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Top Search Vol. Keywords</a:t>
            </a:r>
            <a:endParaRPr b="1" i="0" sz="40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89" name="Google Shape;289;g3c9752f9680_6_66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c9752f9680_6_66"/>
          <p:cNvSpPr txBox="1"/>
          <p:nvPr/>
        </p:nvSpPr>
        <p:spPr>
          <a:xfrm>
            <a:off x="15928125" y="914300"/>
            <a:ext cx="81978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 Ocak - 31 </a:t>
            </a:r>
            <a:r>
              <a:rPr b="1" i="0" lang="en-US" sz="40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Ocak</a:t>
            </a:r>
            <a:r>
              <a:rPr b="1" i="0" lang="en-US" sz="40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Visibility En Çok Etkileyen Kelimeler</a:t>
            </a:r>
            <a:endParaRPr b="1" i="0" sz="40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91" name="Google Shape;291;g3c9752f9680_6_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57800" y="2278100"/>
            <a:ext cx="5566536" cy="1143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c9752f9680_6_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66100" y="3125475"/>
            <a:ext cx="8781845" cy="1041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8" name="Google Shape;298;g3c8f0b24be0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9" name="Google Shape;299;g3c8f0b24be0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0" name="Google Shape;300;g3c8f0b24be0_0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c8f0b24be0_0_29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c8f0b24be0_0_29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- Anahtar Kelime Sıralamaları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03" name="Google Shape;303;g3c8f0b24be0_0_29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c8f0b24be0_0_29"/>
          <p:cNvSpPr txBox="1"/>
          <p:nvPr/>
        </p:nvSpPr>
        <p:spPr>
          <a:xfrm>
            <a:off x="2067150" y="2412375"/>
            <a:ext cx="783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Yüksek Arama Hacimli Kelimeler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05" name="Google Shape;305;g3c8f0b24be0_0_29"/>
          <p:cNvSpPr txBox="1"/>
          <p:nvPr/>
        </p:nvSpPr>
        <p:spPr>
          <a:xfrm>
            <a:off x="13882600" y="2412375"/>
            <a:ext cx="690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İyi Artış Yaşayan Kelimeler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06" name="Google Shape;306;g3c8f0b24be0_0_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5229" y="3200650"/>
            <a:ext cx="8506720" cy="1008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c8f0b24be0_0_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05224" y="3115563"/>
            <a:ext cx="8703246" cy="102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13" name="Google Shape;313;g3c8f0b24be0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g3c8f0b24be0_0_43"/>
          <p:cNvGrpSpPr/>
          <p:nvPr/>
        </p:nvGrpSpPr>
        <p:grpSpPr>
          <a:xfrm>
            <a:off x="3268327" y="1724378"/>
            <a:ext cx="17949552" cy="9422838"/>
            <a:chOff x="3268327" y="1724378"/>
            <a:chExt cx="17949552" cy="9422838"/>
          </a:xfrm>
        </p:grpSpPr>
        <p:pic>
          <p:nvPicPr>
            <p:cNvPr id="315" name="Google Shape;315;g3c8f0b24be0_0_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68327" y="1724378"/>
              <a:ext cx="17570050" cy="74785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g3c8f0b24be0_0_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04175" y="9202909"/>
              <a:ext cx="2499845" cy="1943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g3c8f0b24be0_0_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056971" y="9202025"/>
              <a:ext cx="2499844" cy="1945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g3c8f0b24be0_0_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718034" y="9214919"/>
              <a:ext cx="2499845" cy="19211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g3c8f0b24be0_0_43"/>
            <p:cNvSpPr/>
            <p:nvPr/>
          </p:nvSpPr>
          <p:spPr>
            <a:xfrm>
              <a:off x="4631100" y="4793850"/>
              <a:ext cx="361200" cy="4407300"/>
            </a:xfrm>
            <a:prstGeom prst="downArrow">
              <a:avLst>
                <a:gd fmla="val 0" name="adj1"/>
                <a:gd fmla="val 50000" name="adj2"/>
              </a:avLst>
            </a:prstGeom>
            <a:solidFill>
              <a:srgbClr val="43434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c8f0b24be0_0_43"/>
            <p:cNvSpPr/>
            <p:nvPr/>
          </p:nvSpPr>
          <p:spPr>
            <a:xfrm>
              <a:off x="19169550" y="6076300"/>
              <a:ext cx="361200" cy="3126600"/>
            </a:xfrm>
            <a:prstGeom prst="downArrow">
              <a:avLst>
                <a:gd fmla="val 0" name="adj1"/>
                <a:gd fmla="val 50000" name="adj2"/>
              </a:avLst>
            </a:prstGeom>
            <a:solidFill>
              <a:srgbClr val="43434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c8f0b24be0_0_43"/>
            <p:cNvSpPr/>
            <p:nvPr/>
          </p:nvSpPr>
          <p:spPr>
            <a:xfrm>
              <a:off x="18052825" y="4992425"/>
              <a:ext cx="361200" cy="4208700"/>
            </a:xfrm>
            <a:prstGeom prst="downArrow">
              <a:avLst>
                <a:gd fmla="val 0" name="adj1"/>
                <a:gd fmla="val 50000" name="adj2"/>
              </a:avLst>
            </a:prstGeom>
            <a:solidFill>
              <a:srgbClr val="43434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 " id="322" name="Google Shape;322;g3c8f0b24be0_0_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3" name="Google Shape;323;g3c8f0b24be0_0_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c8f0b24be0_0_4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c8f0b24be0_0_43"/>
          <p:cNvSpPr/>
          <p:nvPr/>
        </p:nvSpPr>
        <p:spPr>
          <a:xfrm>
            <a:off x="406450" y="1219200"/>
            <a:ext cx="2066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Ahrefs - Sıralama Alınan Anahtar Kelime Değişimi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26" name="Google Shape;326;g3c8f0b24be0_0_43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c8f0b24be0_0_43"/>
          <p:cNvSpPr txBox="1"/>
          <p:nvPr/>
        </p:nvSpPr>
        <p:spPr>
          <a:xfrm>
            <a:off x="2053050" y="11213790"/>
            <a:ext cx="225612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1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Tablo altındaki G ifadeleri Google updatelerini, yeşil daireler ise büyük çaplı içerik değişikliklerini göstermektedir. </a:t>
            </a:r>
            <a:endParaRPr b="0" i="1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Toplamda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ilk 3’te  sıralama alınan kelimeler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özelinde 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YoY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bakıldığında </a:t>
            </a:r>
            <a:r>
              <a:rPr b="1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değişiklik gözlenmezken, </a:t>
            </a:r>
            <a:r>
              <a:rPr b="1" i="0" lang="en-US" sz="25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merge sonrası MoM bakıldığında 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%30 düşüş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yaşandığı görülmektedir.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Toplamda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ilk 10’da  sıralama alınan kelimeler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özelinde 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YoY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bakıldığında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%12.7 düşüş  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gerçekleşmiş; merge sonrası</a:t>
            </a:r>
            <a:r>
              <a:rPr b="1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MoM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ise  </a:t>
            </a:r>
            <a:r>
              <a:rPr b="1" i="0" lang="en-US" sz="2500" u="none" cap="none" strike="noStrike">
                <a:solidFill>
                  <a:srgbClr val="EA4335"/>
                </a:solidFill>
                <a:latin typeface="Outfit"/>
                <a:ea typeface="Outfit"/>
                <a:cs typeface="Outfit"/>
                <a:sym typeface="Outfit"/>
              </a:rPr>
              <a:t>%35 düşüş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yaşanmıştır.</a:t>
            </a:r>
            <a:endParaRPr b="0" i="0" sz="25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33" name="Google Shape;333;g3c8f0b24be0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c8f0b24be0_0_6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c8f0b24be0_0_63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36" name="Google Shape;336;g3c8f0b24be0_0_6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2026 AI Referal Trafik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37" name="Google Shape;337;g3c8f0b24be0_0_63"/>
          <p:cNvSpPr txBox="1"/>
          <p:nvPr/>
        </p:nvSpPr>
        <p:spPr>
          <a:xfrm>
            <a:off x="18393100" y="3709650"/>
            <a:ext cx="5855100" cy="9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YoY kıyasalamada </a:t>
            </a:r>
            <a:endParaRPr b="1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Bricolage Grotesque"/>
              <a:buChar char="➔"/>
            </a:pP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Ocak ayında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referral oturumları 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%946.8 artmıştır.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Kullanıcılar</a:t>
            </a:r>
            <a:r>
              <a:rPr b="0" i="0" lang="en-US" sz="28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ise 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%849 oranında artmıştır.</a:t>
            </a:r>
            <a:endParaRPr b="1" i="0" sz="2800" u="none" cap="none" strike="noStrike">
              <a:solidFill>
                <a:schemeClr val="accent6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MoM bakıldığında </a:t>
            </a:r>
            <a:endParaRPr b="1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Bricolage Grotesque"/>
              <a:buChar char="➔"/>
            </a:pP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Aralık ayına kıyasla 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kullanıcılar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%30 düşüş</a:t>
            </a: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gösterirken;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oturumlar </a:t>
            </a:r>
            <a:r>
              <a:rPr b="1" i="0" lang="en-US" sz="28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%25 düşmüştür.</a:t>
            </a:r>
            <a:endParaRPr b="0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38" name="Google Shape;338;g3c8f0b24be0_0_63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376250"/>
            <a:ext cx="18196024" cy="56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c8f0b24be0_0_63" title="Chart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8266725"/>
            <a:ext cx="18196024" cy="547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45" name="Google Shape;345;g3cce8251c07_0_4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cce8251c07_0_416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47" name="Google Shape;347;g3cce8251c07_0_4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cce8251c07_0_416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49" name="Google Shape;349;g3cce8251c07_0_4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88261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cce8251c07_0_416"/>
          <p:cNvSpPr/>
          <p:nvPr/>
        </p:nvSpPr>
        <p:spPr>
          <a:xfrm>
            <a:off x="-22541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04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cce8251c07_0_416"/>
          <p:cNvSpPr/>
          <p:nvPr/>
        </p:nvSpPr>
        <p:spPr>
          <a:xfrm>
            <a:off x="6596073" y="5768075"/>
            <a:ext cx="1498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vitra.com.tr - Geçiş Öncesi - Sonrası Sıralamalar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57" name="Google Shape;357;g3cce8251c07_0_4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cce8251c07_0_427"/>
          <p:cNvSpPr/>
          <p:nvPr/>
        </p:nvSpPr>
        <p:spPr>
          <a:xfrm>
            <a:off x="1219359" y="487680"/>
            <a:ext cx="21948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vitra.com.tr | Non-Brand Sıralama Analizi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ce8251c07_0_42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Sonrası Non-Brand Sıralama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60" name="Google Shape;360;g3cce8251c07_0_427"/>
          <p:cNvSpPr/>
          <p:nvPr/>
        </p:nvSpPr>
        <p:spPr>
          <a:xfrm>
            <a:off x="1219359" y="2770810"/>
            <a:ext cx="5121600" cy="195030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1" name="Google Shape;361;g3cce8251c07_0_4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5166" y="3258490"/>
            <a:ext cx="853441" cy="85344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cce8251c07_0_427"/>
          <p:cNvSpPr/>
          <p:nvPr/>
        </p:nvSpPr>
        <p:spPr>
          <a:xfrm>
            <a:off x="2560653" y="2892730"/>
            <a:ext cx="341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Calibri"/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2.112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cce8251c07_0_427"/>
          <p:cNvSpPr/>
          <p:nvPr/>
        </p:nvSpPr>
        <p:spPr>
          <a:xfrm>
            <a:off x="2560653" y="3990010"/>
            <a:ext cx="3414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D0D0D0"/>
                </a:solidFill>
                <a:latin typeface="Calibri"/>
                <a:ea typeface="Calibri"/>
                <a:cs typeface="Calibri"/>
                <a:sym typeface="Calibri"/>
              </a:rPr>
              <a:t>Takip Edilen Keyword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cce8251c07_0_427"/>
          <p:cNvSpPr/>
          <p:nvPr/>
        </p:nvSpPr>
        <p:spPr>
          <a:xfrm>
            <a:off x="6828409" y="2770810"/>
            <a:ext cx="5121600" cy="195030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5" name="Google Shape;365;g3cce8251c07_0_4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4217" y="3258490"/>
            <a:ext cx="853441" cy="85344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cce8251c07_0_427"/>
          <p:cNvSpPr/>
          <p:nvPr/>
        </p:nvSpPr>
        <p:spPr>
          <a:xfrm>
            <a:off x="8169704" y="2892730"/>
            <a:ext cx="341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Calibri"/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4.37M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cce8251c07_0_427"/>
          <p:cNvSpPr/>
          <p:nvPr/>
        </p:nvSpPr>
        <p:spPr>
          <a:xfrm>
            <a:off x="8169704" y="3990010"/>
            <a:ext cx="3414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D0D0D0"/>
                </a:solidFill>
                <a:latin typeface="Calibri"/>
                <a:ea typeface="Calibri"/>
                <a:cs typeface="Calibri"/>
                <a:sym typeface="Calibri"/>
              </a:rPr>
              <a:t>Toplam Arama Hacmi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cce8251c07_0_427"/>
          <p:cNvSpPr/>
          <p:nvPr/>
        </p:nvSpPr>
        <p:spPr>
          <a:xfrm>
            <a:off x="12437459" y="2770810"/>
            <a:ext cx="5121600" cy="1950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9" name="Google Shape;369;g3cce8251c07_0_4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3267" y="3258490"/>
            <a:ext cx="853441" cy="85344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cce8251c07_0_427"/>
          <p:cNvSpPr/>
          <p:nvPr/>
        </p:nvSpPr>
        <p:spPr>
          <a:xfrm>
            <a:off x="13778754" y="2892730"/>
            <a:ext cx="341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Calibri"/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%52.5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cce8251c07_0_427"/>
          <p:cNvSpPr/>
          <p:nvPr/>
        </p:nvSpPr>
        <p:spPr>
          <a:xfrm>
            <a:off x="13778754" y="3990010"/>
            <a:ext cx="3414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Güncel Top 3 Oranı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ce8251c07_0_427"/>
          <p:cNvSpPr/>
          <p:nvPr/>
        </p:nvSpPr>
        <p:spPr>
          <a:xfrm>
            <a:off x="18046510" y="2770810"/>
            <a:ext cx="5121600" cy="1950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3" name="Google Shape;373;g3cce8251c07_0_4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12317" y="3258490"/>
            <a:ext cx="853441" cy="85344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cce8251c07_0_427"/>
          <p:cNvSpPr/>
          <p:nvPr/>
        </p:nvSpPr>
        <p:spPr>
          <a:xfrm>
            <a:off x="19387804" y="2892730"/>
            <a:ext cx="341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Calibri"/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1.109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cce8251c07_0_427"/>
          <p:cNvSpPr/>
          <p:nvPr/>
        </p:nvSpPr>
        <p:spPr>
          <a:xfrm>
            <a:off x="19387804" y="3990010"/>
            <a:ext cx="3414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0D0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Top 3 Pozisyonda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cce8251c07_0_427"/>
          <p:cNvSpPr/>
          <p:nvPr/>
        </p:nvSpPr>
        <p:spPr>
          <a:xfrm>
            <a:off x="1219359" y="4843510"/>
            <a:ext cx="10974300" cy="926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cce8251c07_0_427"/>
          <p:cNvSpPr/>
          <p:nvPr/>
        </p:nvSpPr>
        <p:spPr>
          <a:xfrm>
            <a:off x="1585166" y="4843510"/>
            <a:ext cx="97548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Geçiş Etkisi - Kazanımlar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g3cce8251c07_0_4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3231" y="6013942"/>
            <a:ext cx="609601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cce8251c07_0_427"/>
          <p:cNvSpPr/>
          <p:nvPr/>
        </p:nvSpPr>
        <p:spPr>
          <a:xfrm>
            <a:off x="2316782" y="5940790"/>
            <a:ext cx="9510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968</a:t>
            </a:r>
            <a:r>
              <a:rPr b="0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Online'da top 3 değilken, güncel top 3'e taşındı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g3cce8251c07_0_4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3231" y="6891766"/>
            <a:ext cx="609601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cce8251c07_0_427"/>
          <p:cNvSpPr/>
          <p:nvPr/>
        </p:nvSpPr>
        <p:spPr>
          <a:xfrm>
            <a:off x="2316782" y="6818614"/>
            <a:ext cx="9510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846</a:t>
            </a:r>
            <a:r>
              <a:rPr b="0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WWW'de top 3 değilken, güncel top 3'e taşındı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g3cce8251c07_0_4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3231" y="7769590"/>
            <a:ext cx="609601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cce8251c07_0_427"/>
          <p:cNvSpPr/>
          <p:nvPr/>
        </p:nvSpPr>
        <p:spPr>
          <a:xfrm>
            <a:off x="2316782" y="7696438"/>
            <a:ext cx="9510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499</a:t>
            </a:r>
            <a:r>
              <a:rPr b="0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Aralık'ta top 3 değilken, güncel top 3'e yükseldi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g3cce8251c07_0_4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3231" y="8647414"/>
            <a:ext cx="609601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cce8251c07_0_427"/>
          <p:cNvSpPr/>
          <p:nvPr/>
        </p:nvSpPr>
        <p:spPr>
          <a:xfrm>
            <a:off x="2316782" y="8574262"/>
            <a:ext cx="9510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351</a:t>
            </a:r>
            <a:r>
              <a:rPr b="0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Online'da hiç sıralamazken, güncel top 3'te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g3cce8251c07_0_4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3231" y="9525238"/>
            <a:ext cx="609601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cce8251c07_0_427"/>
          <p:cNvSpPr/>
          <p:nvPr/>
        </p:nvSpPr>
        <p:spPr>
          <a:xfrm>
            <a:off x="2316782" y="9452086"/>
            <a:ext cx="9510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611</a:t>
            </a:r>
            <a:r>
              <a:rPr b="0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Online'da hiç sıralamazken, güncel top 10'da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ce8251c07_0_427"/>
          <p:cNvSpPr/>
          <p:nvPr/>
        </p:nvSpPr>
        <p:spPr>
          <a:xfrm>
            <a:off x="12925203" y="4843510"/>
            <a:ext cx="10730100" cy="9264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cce8251c07_0_427"/>
          <p:cNvSpPr/>
          <p:nvPr/>
        </p:nvSpPr>
        <p:spPr>
          <a:xfrm>
            <a:off x="13291010" y="4843510"/>
            <a:ext cx="97548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Dönem Bazlı Karşılaştırma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g3cce8251c07_0_427"/>
          <p:cNvGraphicFramePr/>
          <p:nvPr/>
        </p:nvGraphicFramePr>
        <p:xfrm>
          <a:off x="12925203" y="5940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3170350"/>
                <a:gridCol w="2438725"/>
                <a:gridCol w="2438725"/>
                <a:gridCol w="2682625"/>
              </a:tblGrid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10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3 %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Kasım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171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1.122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%8.1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 Kasım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334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1.607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%15.8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Aralık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729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1.622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700"/>
                        <a:buFont typeface="Calibri"/>
                        <a:buNone/>
                      </a:pPr>
                      <a:r>
                        <a:rPr lang="en-US" sz="27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%34.5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Güncel (4 Mart)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1.109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1.741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%52.5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g3cce8251c07_0_427"/>
          <p:cNvSpPr/>
          <p:nvPr/>
        </p:nvSpPr>
        <p:spPr>
          <a:xfrm>
            <a:off x="1341453" y="10329883"/>
            <a:ext cx="10730100" cy="8535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cce8251c07_0_427"/>
          <p:cNvSpPr/>
          <p:nvPr/>
        </p:nvSpPr>
        <p:spPr>
          <a:xfrm>
            <a:off x="1707260" y="10329883"/>
            <a:ext cx="9754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Geçiş Etkisi - Kayıplar</a:t>
            </a:r>
            <a:endParaRPr b="1" i="0" sz="2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g3cce8251c07_0_4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85325" y="1132962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cce8251c07_0_427"/>
          <p:cNvSpPr/>
          <p:nvPr/>
        </p:nvSpPr>
        <p:spPr>
          <a:xfrm>
            <a:off x="2316940" y="11256475"/>
            <a:ext cx="92667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2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Online'da top 3 iken, güncel top 3'ten düştü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g3cce8251c07_0_4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85325" y="12109915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cce8251c07_0_427"/>
          <p:cNvSpPr/>
          <p:nvPr/>
        </p:nvSpPr>
        <p:spPr>
          <a:xfrm>
            <a:off x="2316940" y="12036763"/>
            <a:ext cx="92667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r>
              <a:rPr b="0" i="0" lang="en-US" sz="2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WWW'de top 3 iken, güncel top 3'ten düştü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cce8251c07_0_427"/>
          <p:cNvSpPr/>
          <p:nvPr/>
        </p:nvSpPr>
        <p:spPr>
          <a:xfrm>
            <a:off x="2316940" y="12817051"/>
            <a:ext cx="92667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119</a:t>
            </a:r>
            <a:r>
              <a:rPr b="0" i="0" lang="en-US" sz="27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keyword Aralık'ta top 3 iken, güncel top 3'ten düştü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8" name="Google Shape;398;g3cce8251c07_0_4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85325" y="12890203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cce8251c07_0_427"/>
          <p:cNvSpPr/>
          <p:nvPr/>
        </p:nvSpPr>
        <p:spPr>
          <a:xfrm>
            <a:off x="12437275" y="10875277"/>
            <a:ext cx="10974300" cy="23493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cce8251c07_0_427"/>
          <p:cNvSpPr/>
          <p:nvPr/>
        </p:nvSpPr>
        <p:spPr>
          <a:xfrm>
            <a:off x="12437275" y="10875276"/>
            <a:ext cx="146400" cy="2349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1" name="Google Shape;401;g3cce8251c07_0_4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803091" y="11167876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cce8251c07_0_427"/>
          <p:cNvSpPr/>
          <p:nvPr/>
        </p:nvSpPr>
        <p:spPr>
          <a:xfrm>
            <a:off x="13534707" y="10997188"/>
            <a:ext cx="96333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700"/>
              <a:buFont typeface="Calibri"/>
              <a:buNone/>
            </a:pPr>
            <a:r>
              <a:rPr b="1" i="0" lang="en-US" sz="25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Time range ve </a:t>
            </a:r>
            <a:r>
              <a:rPr b="1" lang="en-US" sz="2500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metodoloji</a:t>
            </a:r>
            <a:r>
              <a:rPr b="1" i="0" lang="en-US" sz="25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Geçiş öncesi dönem karşılaştırması yapmak için online.vitra ve </a:t>
            </a:r>
            <a:r>
              <a:rPr b="0" i="0" lang="en-US" sz="2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www.vitra.com.tr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subdomainlerinin Kasım 2025 kelime sıralama ortalamasına bakıldı. Güncelde ise T anını alabilmek adına SEOmonitor üzerindeki 15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ralık ve 4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 tarihli sıralamalardan ilerlendi. Tüm sıralamalar mobil olarak ele alındı.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08" name="Google Shape;408;g3cce8251c07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cce8251c07_0_8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 Kategori Performansı - Tüm Data (2.112 Keyword)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410" name="Google Shape;410;g3cce8251c07_0_85"/>
          <p:cNvGraphicFramePr/>
          <p:nvPr/>
        </p:nvGraphicFramePr>
        <p:xfrm>
          <a:off x="589334" y="2658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3048400"/>
                <a:gridCol w="1341300"/>
                <a:gridCol w="1585150"/>
                <a:gridCol w="1463250"/>
                <a:gridCol w="1707100"/>
                <a:gridCol w="1585150"/>
                <a:gridCol w="1585150"/>
              </a:tblGrid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Kategori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KW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Hacim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Ort. Sıra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Online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WWW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Top3 %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Mobilyaları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1.03M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+24.6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+11.1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%44.2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Armatürler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905K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+18.9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+18.6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%51.3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Vitrifiyeler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397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868K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+18.7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+8.8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%63.7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Yıkanma Alanları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761K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+49.5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+7.4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%60.8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Karo Seramik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383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374K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+86.7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%49.9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Aksesuarları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+27.5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+14.4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%37.8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Duşlar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162K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+15.0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+19.1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%52.6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Rezervuarlar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7.7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+17.8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+4.3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%64.5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9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TOPLAM / ORT.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2.112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4.37M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EE9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90EE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+35.6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0EE9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90EE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+10.9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%52.5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 anchor="ctr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g3cce8251c07_0_85"/>
          <p:cNvSpPr/>
          <p:nvPr/>
        </p:nvSpPr>
        <p:spPr>
          <a:xfrm>
            <a:off x="1219359" y="487680"/>
            <a:ext cx="21948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vitra.com.tr | Non-Brand Sıralama Analizi - Kategori Kırılımı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cce8251c07_0_85"/>
          <p:cNvSpPr/>
          <p:nvPr/>
        </p:nvSpPr>
        <p:spPr>
          <a:xfrm>
            <a:off x="14002280" y="2658755"/>
            <a:ext cx="9023700" cy="8535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cce8251c07_0_85"/>
          <p:cNvSpPr/>
          <p:nvPr/>
        </p:nvSpPr>
        <p:spPr>
          <a:xfrm>
            <a:off x="14368088" y="2658755"/>
            <a:ext cx="82914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4" name="Google Shape;414;g3cce8251c07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4216" y="395110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cce8251c07_0_85"/>
          <p:cNvSpPr/>
          <p:nvPr/>
        </p:nvSpPr>
        <p:spPr>
          <a:xfrm>
            <a:off x="14855831" y="3829187"/>
            <a:ext cx="804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Vitrifiyeler &amp; Rezervuarlar en yüksek top 3 oranına sahip kategoriler (%64-65). Merge sonrası en güçlü performans.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6" name="Google Shape;416;g3cce8251c07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4216" y="553606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cce8251c07_0_85"/>
          <p:cNvSpPr/>
          <p:nvPr/>
        </p:nvSpPr>
        <p:spPr>
          <a:xfrm>
            <a:off x="14855831" y="5414147"/>
            <a:ext cx="804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Yıkanma Alanları Online'a göre +49.5 puan iyileşme ile en büyük sıralama kazancı. Karo Seramik +86.7 puan ile dikkat çekici (Daha önce SERP dışı olan</a:t>
            </a:r>
            <a:r>
              <a:rPr lang="en-US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kelimelerin sıralama alması durumu var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g3cce8251c07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4216" y="712102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cce8251c07_0_85"/>
          <p:cNvSpPr/>
          <p:nvPr/>
        </p:nvSpPr>
        <p:spPr>
          <a:xfrm>
            <a:off x="14855831" y="6999107"/>
            <a:ext cx="804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Armatürler hem Online hem WWW'ye göre +18-19 puan iyileşme gösterdi. 905K hacimle güçlü bir kategori.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g3cce8251c07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24216" y="870598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cce8251c07_0_85"/>
          <p:cNvSpPr/>
          <p:nvPr/>
        </p:nvSpPr>
        <p:spPr>
          <a:xfrm>
            <a:off x="14855831" y="8584067"/>
            <a:ext cx="804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Banyo Aksesuarları %37.8 top 3 oranı ile en zayıf kategori. İçerik ve sayfa optimizasyonu </a:t>
            </a:r>
            <a:r>
              <a:rPr lang="en-US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yapılabilir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g3cce8251c07_0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24216" y="1029094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cce8251c07_0_85"/>
          <p:cNvSpPr/>
          <p:nvPr/>
        </p:nvSpPr>
        <p:spPr>
          <a:xfrm>
            <a:off x="14855831" y="10169027"/>
            <a:ext cx="804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Banyo Mobilyaları 1.03M hacim ile en büyük kategori. Ort. sıralama 10.2'ye </a:t>
            </a:r>
            <a:r>
              <a:rPr lang="en-US" sz="24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ilerledi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g3cce8251c07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4216" y="11875907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cce8251c07_0_85"/>
          <p:cNvSpPr/>
          <p:nvPr/>
        </p:nvSpPr>
        <p:spPr>
          <a:xfrm>
            <a:off x="14855831" y="11753987"/>
            <a:ext cx="804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Duşlar Aralık'tan bu yana +8.3 puan iyileşme ile en hızlı toparlanma gösteren kategori.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31" name="Google Shape;431;g3cce8251c07_0_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cce8251c07_0_246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Pozisyon Dağılımı &amp; Hacim Segmenti Analizi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33" name="Google Shape;433;g3cce8251c07_0_246"/>
          <p:cNvSpPr/>
          <p:nvPr/>
        </p:nvSpPr>
        <p:spPr>
          <a:xfrm>
            <a:off x="1219359" y="487680"/>
            <a:ext cx="21948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vitra.com.tr | Non-Brand Sıralama &amp; Hacim &amp; Pozisyon Dağılımı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cce8251c07_0_246"/>
          <p:cNvSpPr/>
          <p:nvPr/>
        </p:nvSpPr>
        <p:spPr>
          <a:xfrm>
            <a:off x="772459" y="2801625"/>
            <a:ext cx="11218200" cy="8535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cce8251c07_0_246"/>
          <p:cNvSpPr/>
          <p:nvPr/>
        </p:nvSpPr>
        <p:spPr>
          <a:xfrm>
            <a:off x="1138266" y="2801625"/>
            <a:ext cx="1048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Dönem Bazlı Pozisyon Dağılımı - Keyword Sayısı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g3cce8251c07_0_246"/>
          <p:cNvGraphicFramePr/>
          <p:nvPr/>
        </p:nvGraphicFramePr>
        <p:xfrm>
          <a:off x="772459" y="3898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682625"/>
                <a:gridCol w="1219350"/>
                <a:gridCol w="1219350"/>
                <a:gridCol w="1219350"/>
                <a:gridCol w="1219350"/>
                <a:gridCol w="1585150"/>
                <a:gridCol w="158515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1-3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4-10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11-20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20+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SERP Dışı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3 %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Kasım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%8.1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 Kasım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334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1273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186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%15.8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Aralık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893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%34.5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Güncel (4 Mart)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1.109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%52.5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7" name="Google Shape;437;g3cce8251c07_0_246"/>
          <p:cNvSpPr/>
          <p:nvPr/>
        </p:nvSpPr>
        <p:spPr>
          <a:xfrm>
            <a:off x="772459" y="8117270"/>
            <a:ext cx="11218200" cy="8535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cce8251c07_0_246"/>
          <p:cNvSpPr/>
          <p:nvPr/>
        </p:nvSpPr>
        <p:spPr>
          <a:xfrm>
            <a:off x="1138266" y="8117270"/>
            <a:ext cx="1048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Hacim Bazlı Pozisyon Dağılımı - Arama Hacmi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9" name="Google Shape;439;g3cce8251c07_0_246"/>
          <p:cNvGraphicFramePr/>
          <p:nvPr/>
        </p:nvGraphicFramePr>
        <p:xfrm>
          <a:off x="772459" y="92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682625"/>
                <a:gridCol w="1585150"/>
                <a:gridCol w="1463250"/>
                <a:gridCol w="1463250"/>
                <a:gridCol w="1707100"/>
                <a:gridCol w="231677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1-3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4-10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11-20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SERP Dışı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Top3 Hacim%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Kasım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371K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675K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947K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%8.5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 Kasım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326K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339K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246K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%7.5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Aralık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1.75M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406K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%40.0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Güncel (4 Mart)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2.92M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845K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358K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22K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%66.9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0" name="Google Shape;440;g3cce8251c07_0_246"/>
          <p:cNvSpPr/>
          <p:nvPr/>
        </p:nvSpPr>
        <p:spPr>
          <a:xfrm>
            <a:off x="12600239" y="2801625"/>
            <a:ext cx="10608600" cy="8535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cce8251c07_0_246"/>
          <p:cNvSpPr/>
          <p:nvPr/>
        </p:nvSpPr>
        <p:spPr>
          <a:xfrm>
            <a:off x="12844110" y="2801625"/>
            <a:ext cx="10242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Hacim Segmentine Göre Güncel Pozisyon Dağılımı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2" name="Google Shape;442;g3cce8251c07_0_246"/>
          <p:cNvGraphicFramePr/>
          <p:nvPr/>
        </p:nvGraphicFramePr>
        <p:xfrm>
          <a:off x="12600239" y="3898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072925"/>
                <a:gridCol w="1707100"/>
                <a:gridCol w="1707100"/>
                <a:gridCol w="1707100"/>
                <a:gridCol w="195097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KW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10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Top3 %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10K+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%66.7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1K–10K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434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%51.6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100–1K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1.255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1.038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%51.2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&lt;100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345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191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500"/>
                        <a:buFont typeface="Calibri"/>
                        <a:buNone/>
                      </a:pPr>
                      <a:r>
                        <a:rPr lang="en-US" sz="25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500"/>
                        <a:buFont typeface="Calibri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%55.4</a:t>
                      </a:r>
                      <a:endParaRPr sz="2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</a:tbl>
          </a:graphicData>
        </a:graphic>
      </p:graphicFrame>
      <p:sp>
        <p:nvSpPr>
          <p:cNvPr id="443" name="Google Shape;443;g3cce8251c07_0_246"/>
          <p:cNvSpPr/>
          <p:nvPr/>
        </p:nvSpPr>
        <p:spPr>
          <a:xfrm>
            <a:off x="12600239" y="8117270"/>
            <a:ext cx="10608600" cy="8535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cce8251c07_0_246"/>
          <p:cNvSpPr/>
          <p:nvPr/>
        </p:nvSpPr>
        <p:spPr>
          <a:xfrm>
            <a:off x="12844110" y="8117270"/>
            <a:ext cx="9754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g3cce8251c07_0_2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22175" y="9336470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cce8251c07_0_246"/>
          <p:cNvSpPr/>
          <p:nvPr/>
        </p:nvSpPr>
        <p:spPr>
          <a:xfrm>
            <a:off x="13453790" y="9214550"/>
            <a:ext cx="951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10K+ segment %66.7 top 3 oranı ile en güçlü performansı sergiliyor. Yüksek hacimli keyword'lerde başarılı sonuçlar.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7" name="Google Shape;447;g3cce8251c07_0_2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22175" y="10604438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cce8251c07_0_246"/>
          <p:cNvSpPr/>
          <p:nvPr/>
        </p:nvSpPr>
        <p:spPr>
          <a:xfrm>
            <a:off x="13453790" y="10482518"/>
            <a:ext cx="951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Top 3 hacim oranı %66.9 ile keyword oranının (%52.5) çok üstünde. Toplam trafiğin büyük kısmı top 3 pozisyonlardan geliyor.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9" name="Google Shape;449;g3cce8251c07_0_2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22175" y="11872406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cce8251c07_0_246"/>
          <p:cNvSpPr/>
          <p:nvPr/>
        </p:nvSpPr>
        <p:spPr>
          <a:xfrm>
            <a:off x="13453790" y="11750486"/>
            <a:ext cx="951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SERP dışı keyword sayısı 821'den 29'a düştü. Online Kasım'da sıralama almayan 611 keyword şu an top 10'da.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56" name="Google Shape;456;g3cce8251c07_0_7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75" y="1724375"/>
            <a:ext cx="5712725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cce8251c07_0_74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İyileşen &amp; Kötüleşen Sorgular (vs Online)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58" name="Google Shape;458;g3cce8251c07_0_742"/>
          <p:cNvSpPr/>
          <p:nvPr/>
        </p:nvSpPr>
        <p:spPr>
          <a:xfrm>
            <a:off x="1219359" y="487680"/>
            <a:ext cx="21948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vitra.com.tr | Non-Brand Sıralama Analizi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cce8251c07_0_742"/>
          <p:cNvSpPr/>
          <p:nvPr/>
        </p:nvSpPr>
        <p:spPr>
          <a:xfrm>
            <a:off x="975346" y="2658750"/>
            <a:ext cx="11462400" cy="926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0" name="Google Shape;460;g3cce8251c07_0_7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5893" y="2853720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cce8251c07_0_742"/>
          <p:cNvSpPr/>
          <p:nvPr/>
        </p:nvSpPr>
        <p:spPr>
          <a:xfrm>
            <a:off x="1950833" y="2658750"/>
            <a:ext cx="97548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İyi Artışlar - Yüksek Hacimli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2" name="Google Shape;462;g3cce8251c07_0_742"/>
          <p:cNvGraphicFramePr/>
          <p:nvPr/>
        </p:nvGraphicFramePr>
        <p:xfrm>
          <a:off x="975346" y="387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3170350"/>
                <a:gridCol w="1707100"/>
                <a:gridCol w="1463250"/>
                <a:gridCol w="1829050"/>
                <a:gridCol w="1829050"/>
              </a:tblGrid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Hacim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Güncel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Online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WWW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dolapları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duşakabin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90.5K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+14.8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+7.3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lavabo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+2.4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duş başlığı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49.5K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+4.5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wc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40.5K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+99.0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+5.9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klozet kapağı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40.5K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+2.9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+3.5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batarya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40.5K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+2.9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fayans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27.1K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+2.5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duş seti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22.2K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alafranga tuvalet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18.1K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+4.7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+5.3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</a:tbl>
          </a:graphicData>
        </a:graphic>
      </p:graphicFrame>
      <p:sp>
        <p:nvSpPr>
          <p:cNvPr id="463" name="Google Shape;463;g3cce8251c07_0_742"/>
          <p:cNvSpPr/>
          <p:nvPr/>
        </p:nvSpPr>
        <p:spPr>
          <a:xfrm>
            <a:off x="13168934" y="2658750"/>
            <a:ext cx="10242900" cy="9264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4" name="Google Shape;464;g3cce8251c07_0_7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60431" y="2853720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3cce8251c07_0_742"/>
          <p:cNvSpPr/>
          <p:nvPr/>
        </p:nvSpPr>
        <p:spPr>
          <a:xfrm>
            <a:off x="14144421" y="2658750"/>
            <a:ext cx="87795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Düşüş Yaşananlar - Yüksek Hacimli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6" name="Google Shape;466;g3cce8251c07_0_742"/>
          <p:cNvGraphicFramePr/>
          <p:nvPr/>
        </p:nvGraphicFramePr>
        <p:xfrm>
          <a:off x="13168934" y="387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{DBDCEDE4-B0FC-4F23-BC3E-1BF49A17E47C}</a:tableStyleId>
              </a:tblPr>
              <a:tblGrid>
                <a:gridCol w="2926450"/>
                <a:gridCol w="1463250"/>
                <a:gridCol w="1341300"/>
                <a:gridCol w="1707100"/>
                <a:gridCol w="1707100"/>
              </a:tblGrid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Hacim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Güncel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Online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WWW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36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dolap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-1.2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taharet musluğu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40.5K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-10.3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-13.1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mutfak tezgahı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27.1K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-65.5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-29.8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seti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27.1K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-24.2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-26.6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musluk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22.2K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-4.2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-4.0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mutfak musluğu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12.1K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-5.1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-3.0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mutfak evye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12.1K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-1.9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-4.4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batarya musluk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9.9K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-0.7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+3.3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ledli ayna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-9.8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+84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banyo tasarımları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4.4K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2300"/>
                        <a:buFont typeface="Calibri"/>
                        <a:buNone/>
                      </a:pPr>
                      <a:r>
                        <a:rPr lang="en-US" sz="23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-2.6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2300"/>
                        <a:buFont typeface="Calibri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-3.0</a:t>
                      </a:r>
                      <a:endParaRPr sz="2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25" marB="121925" marR="243900" marL="243900">
                    <a:lnL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D"/>
                    </a:solidFill>
                  </a:tcPr>
                </a:tc>
              </a:tr>
            </a:tbl>
          </a:graphicData>
        </a:graphic>
      </p:graphicFrame>
      <p:sp>
        <p:nvSpPr>
          <p:cNvPr id="467" name="Google Shape;467;g3cce8251c07_0_742"/>
          <p:cNvSpPr/>
          <p:nvPr/>
        </p:nvSpPr>
        <p:spPr>
          <a:xfrm>
            <a:off x="975446" y="11948750"/>
            <a:ext cx="22436400" cy="1219200"/>
          </a:xfrm>
          <a:prstGeom prst="rect">
            <a:avLst/>
          </a:prstGeom>
          <a:solidFill>
            <a:srgbClr val="FFF5F0"/>
          </a:solidFill>
          <a:ln cap="flat" cmpd="sng" w="33875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8" name="Google Shape;468;g3cce8251c07_0_7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318" y="12143822"/>
            <a:ext cx="609601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cce8251c07_0_742"/>
          <p:cNvSpPr/>
          <p:nvPr/>
        </p:nvSpPr>
        <p:spPr>
          <a:xfrm>
            <a:off x="2072869" y="11948750"/>
            <a:ext cx="2109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Detaylı çalışma ve tüm sıralamalar için dökümanı inceleyebilirsiniz. Link: </a:t>
            </a:r>
            <a:r>
              <a:rPr b="1"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Vitra Geçiş Sıralama Analizi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75" name="Google Shape;47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9003" y="0"/>
            <a:ext cx="9958045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6" name="Google Shape;47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08462" y="0"/>
            <a:ext cx="727858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4"/>
          <p:cNvSpPr/>
          <p:nvPr/>
        </p:nvSpPr>
        <p:spPr>
          <a:xfrm>
            <a:off x="7862283" y="5676900"/>
            <a:ext cx="8675184" cy="30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8" name="Google Shape;47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3424" y="5676900"/>
            <a:ext cx="812902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4"/>
          <p:cNvSpPr/>
          <p:nvPr/>
        </p:nvSpPr>
        <p:spPr>
          <a:xfrm>
            <a:off x="7659057" y="6210300"/>
            <a:ext cx="9081635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Bricolage Grotesque SemiBold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Teşekkürler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480" name="Google Shape;48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3424" y="8750300"/>
            <a:ext cx="812902" cy="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2025-01-28T13:27:20Z</dcterms:created>
  <dc:creator>PptxGenJS</dc:creator>
</cp:coreProperties>
</file>